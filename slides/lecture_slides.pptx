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4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84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37096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5138"/>
            <a:ext cx="10241280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Test-time compute allocation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 is </a:t>
            </a:r>
            <a:r>
              <a:rPr lang="en-US" altLang="zh-CN" sz="2000" b="1" i="0">
                <a:solidFill>
                  <a:srgbClr val="262626"/>
                </a:solidFill>
                <a:latin typeface="Calibri" panose="020F0502020204030204"/>
              </a:rPr>
              <a:t>the problem of dividing a fixed inference budget (a fixed number of model calls) between search and verification.</a:t>
            </a:r>
            <a:endParaRPr lang="en-US" altLang="zh-CN" sz="20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lang="en-US" altLang="zh-CN" sz="2000" b="1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3021330"/>
            <a:ext cx="5120640" cy="141351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47154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3044825"/>
            <a:ext cx="5120640" cy="1390015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39280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</a:t>
            </a:r>
            <a:r>
              <a:rPr lang="en-US" sz="2000" b="1" i="0">
                <a:solidFill>
                  <a:srgbClr val="B4550D"/>
                </a:solidFill>
                <a:latin typeface="Calibri" panose="020F0502020204030204"/>
              </a:rPr>
              <a:t>es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 on weak verifiers say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"think a little deeper" (chain-of-thought). But there was no systematic answer to how to split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"step-checker"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one long chain beats many short ones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B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1655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 (for any reason),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400" b="0" i="0">
                <a:solidFill>
                  <a:srgbClr val="262626"/>
                </a:solidFill>
                <a:latin typeface="Calibri" panose="020F0502020204030204"/>
              </a:rPr>
              <a:t>You will reproduce this table with your own model in Experiment 1.</a:t>
            </a:r>
            <a:endParaRPr lang="en-US" altLang="zh-CN"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Search Wins Across Three Models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D:/NeurIPS2026_Edu_Track/assets/曲线族/fig_curves_family.pngfig_curves_family"/>
          <p:cNvPicPr>
            <a:picLocks noChangeAspect="1"/>
          </p:cNvPicPr>
          <p:nvPr/>
        </p:nvPicPr>
        <p:blipFill>
          <a:blip r:embed="rId1"/>
          <a:srcRect t="130" b="130"/>
          <a:stretch>
            <a:fillRect/>
          </a:stretch>
        </p:blipFill>
        <p:spPr>
          <a:xfrm>
            <a:off x="640080" y="1388745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0.37 to 0.73</a:t>
                </a:r>
                <a:endParaRPr lang="en-US" altLang="zh-CN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to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816475"/>
            <a:ext cx="51206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i="1">
                <a:solidFill>
                  <a:srgbClr val="5F5F5F"/>
                </a:solidFill>
                <a:latin typeface="Calibri" panose="020F0502020204030204"/>
              </a:rPr>
              <a:t>Main models (Gemma-3-1B / Gemma-3-4B / Qwen3-4B): full 23-config grid, seed 0; the other three (Phi-4-Mini / Qwen3-0.6B / Qwen3-1.7B): 6-config student grid (search N=10/50 + verify splits). Headline numbers on p. 9 are 3-seed means.</a:t>
            </a:r>
            <a:endParaRPr lang="en-US" altLang="zh-CN"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lang="en-US" sz="1400" i="0">
                <a:solidFill>
                  <a:srgbClr val="262626"/>
                </a:solidFill>
                <a:latin typeface="Calibri" panose="020F0502020204030204"/>
              </a:rPr>
              <a:t>Measured in this band: Phi-4-Mini (p ≈ 0.54)</a:t>
            </a:r>
            <a:endParaRPr lang="en-US" sz="140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Watch the demo, then answer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D:/NeurIPS2026_Edu_Track/assets/热力图/fig_heatmap.pngfig_heatmap"/>
          <p:cNvPicPr>
            <a:picLocks noChangeAspect="1"/>
          </p:cNvPicPr>
          <p:nvPr/>
        </p:nvPicPr>
        <p:blipFill>
          <a:blip r:embed="rId1"/>
          <a:srcRect l="86" r="86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343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But p in GSM8K can differ from MATH (it shifts by model: lower for Gemma-3-4B, higher for Qwen3-4B), so measure it, don't assume it.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759960"/>
            <a:ext cx="466598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</a:t>
            </a:r>
            <a:r>
              <a:rPr lang="en-US" altLang="zh-CN">
                <a:solidFill>
                  <a:srgbClr val="262626"/>
                </a:solidFill>
                <a:latin typeface="Calibri" panose="020F0502020204030204"/>
                <a:sym typeface="+mn-ea"/>
              </a:rPr>
              <a:t>(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final 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lang="en-US" altLang="zh-CN" sz="2000" b="1" i="0">
                <a:solidFill>
                  <a:srgbClr val="FFFFFF"/>
                </a:solidFill>
                <a:latin typeface="Calibri" panose="020F0502020204030204"/>
              </a:rPr>
              <a:t>Search wins by maximizing the candidate pool: </a:t>
            </a:r>
            <a:r>
              <a:rPr lang="en-US" altLang="zh-CN" sz="2000" i="0">
                <a:solidFill>
                  <a:srgbClr val="FFFFFF"/>
                </a:solidFill>
                <a:latin typeface="Calibri" panose="020F0502020204030204"/>
              </a:rPr>
              <a:t>the right answer must first be generated, and verification cannot find what was never generated.</a:t>
            </a:r>
            <a:endParaRPr lang="en-US" altLang="zh-CN" sz="200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16728</Words>
  <Application>WPS 演示</Application>
  <PresentationFormat>On-screen Show (4:3)</PresentationFormat>
  <Paragraphs>597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193</cp:revision>
  <dcterms:created xsi:type="dcterms:W3CDTF">2013-01-27T09:14:00Z</dcterms:created>
  <dcterms:modified xsi:type="dcterms:W3CDTF">2026-09-02T09:23:33Z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