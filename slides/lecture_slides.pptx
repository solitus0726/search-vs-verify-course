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4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2E75B6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84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.png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image" Target="../media/image2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3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image" Target="../media/image10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image" Target="../media/image9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image" Target="../media/image31.png"/><Relationship Id="rId7" Type="http://schemas.openxmlformats.org/officeDocument/2006/relationships/tags" Target="../tags/tag4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tags" Target="../tags/tag42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image" Target="../media/image34.png"/><Relationship Id="rId2" Type="http://schemas.openxmlformats.org/officeDocument/2006/relationships/tags" Target="../tags/tag41.xml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image" Target="../media/image33.png"/><Relationship Id="rId14" Type="http://schemas.openxmlformats.org/officeDocument/2006/relationships/tags" Target="../tags/tag48.xml"/><Relationship Id="rId13" Type="http://schemas.openxmlformats.org/officeDocument/2006/relationships/image" Target="../media/image32.png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4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image" Target="../media/image42.png"/><Relationship Id="rId10" Type="http://schemas.openxmlformats.org/officeDocument/2006/relationships/tags" Target="../tags/tag65.xml"/><Relationship Id="rId1" Type="http://schemas.openxmlformats.org/officeDocument/2006/relationships/tags" Target="../tags/tag56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4.png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502920" y="1005840"/>
            <a:ext cx="82550" cy="32181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5175" y="1051560"/>
            <a:ext cx="82296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F5F5F"/>
                </a:solidFill>
                <a:latin typeface="Calibri" panose="020F0502020204030204"/>
              </a:rPr>
              <a:t>NeurIPS 2026 Education Track</a:t>
            </a:r>
            <a:endParaRPr sz="2000" b="1" i="0">
              <a:solidFill>
                <a:srgbClr val="5F5F5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5175" y="1600200"/>
            <a:ext cx="10515600" cy="16973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1F3864"/>
                </a:solidFill>
                <a:latin typeface="Segoe UI" panose="020B0502040204020203"/>
              </a:rPr>
              <a:t>Test-Time Compute Allocation</a:t>
            </a:r>
            <a:endParaRPr sz="4800" b="1" i="0">
              <a:solidFill>
                <a:srgbClr val="1F3864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2E75B6"/>
                </a:solidFill>
                <a:latin typeface="Segoe UI" panose="020B0502040204020203"/>
              </a:rPr>
              <a:t>Search vs. Verify</a:t>
            </a:r>
            <a:endParaRPr sz="4800" b="1" i="0">
              <a:solidFill>
                <a:srgbClr val="2E75B6"/>
              </a:solidFill>
              <a:latin typeface="Segoe UI" panose="020B0502040204020203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65175" y="3538855"/>
            <a:ext cx="9448165" cy="685800"/>
            <a:chOff x="1008" y="5980"/>
            <a:chExt cx="14879" cy="1080"/>
          </a:xfrm>
        </p:grpSpPr>
        <p:sp>
          <p:nvSpPr>
            <p:cNvPr id="7" name="Rounded Rectangle 6"/>
            <p:cNvSpPr/>
            <p:nvPr/>
          </p:nvSpPr>
          <p:spPr>
            <a:xfrm>
              <a:off x="1008" y="5980"/>
              <a:ext cx="14879" cy="1080"/>
            </a:xfrm>
            <a:prstGeom prst="roundRect">
              <a:avLst>
                <a:gd name="adj" fmla="val 16000"/>
              </a:avLst>
            </a:prstGeom>
            <a:solidFill>
              <a:srgbClr val="ED7D3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5" y="6248"/>
              <a:ext cx="14460" cy="5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i="0">
                  <a:solidFill>
                    <a:srgbClr val="FFFFFF"/>
                  </a:solidFill>
                  <a:latin typeface="Calibri" panose="020F0502020204030204"/>
                </a:rPr>
                <a:t>Under a weak verifier and a mid-size budget, search wins, and the math tells you why.</a:t>
              </a:r>
              <a:endParaRPr lang="en-US" altLang="zh-CN" sz="2000" b="1" i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65175" y="4748530"/>
            <a:ext cx="9448165" cy="715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2400" b="1">
                <a:solidFill>
                  <a:srgbClr val="595959"/>
                </a:solidFill>
                <a:latin typeface="Calibri" panose="020F0502020204030204"/>
              </a:rPr>
              <a:t>Tianxiang Xie, Jingxuan Wu, Jiaying Liu</a:t>
            </a:r>
            <a:r>
              <a:rPr lang="en-US" altLang="zh-CN" sz="2400" b="1" baseline="30000">
                <a:solidFill>
                  <a:srgbClr val="595959"/>
                </a:solidFill>
                <a:latin typeface="Calibri" panose="020F0502020204030204"/>
              </a:rPr>
              <a:t>*</a:t>
            </a:r>
            <a:r>
              <a:rPr lang="en-US" altLang="zh-CN" sz="2400" b="1">
                <a:solidFill>
                  <a:srgbClr val="595959"/>
                </a:solidFill>
                <a:latin typeface="Calibri" panose="020F0502020204030204"/>
              </a:rPr>
              <a:t>, Shuo Yu</a:t>
            </a:r>
            <a:endParaRPr lang="en-US" altLang="zh-CN" sz="2400" b="1">
              <a:solidFill>
                <a:srgbClr val="595959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2000" b="1">
                <a:solidFill>
                  <a:srgbClr val="595959"/>
                </a:solidFill>
                <a:latin typeface="Calibri" panose="020F0502020204030204"/>
              </a:rPr>
              <a:t>Dalian University of Technology</a:t>
            </a:r>
            <a:endParaRPr lang="en-US" altLang="zh-CN" sz="2000" b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 /20</a:t>
            </a:r>
            <a:endParaRPr lang="en-US" altLang="zh-CN"/>
          </a:p>
        </p:txBody>
      </p:sp>
      <p:sp>
        <p:nvSpPr>
          <p:cNvPr id="12" name="TextBox 8"/>
          <p:cNvSpPr txBox="1"/>
          <p:nvPr/>
        </p:nvSpPr>
        <p:spPr>
          <a:xfrm>
            <a:off x="765175" y="5987415"/>
            <a:ext cx="9448165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600" baseline="30000">
                <a:solidFill>
                  <a:srgbClr val="595959"/>
                </a:solidFill>
                <a:latin typeface="Calibri" panose="020F0502020204030204"/>
              </a:rPr>
              <a:t>*</a:t>
            </a:r>
            <a:r>
              <a:rPr lang="en-US" altLang="zh-CN" sz="1600">
                <a:solidFill>
                  <a:srgbClr val="595959"/>
                </a:solidFill>
                <a:latin typeface="Calibri" panose="020F0502020204030204"/>
              </a:rPr>
              <a:t>Corresponding author: jiayingliu@dlut.edu.cn</a:t>
            </a:r>
            <a:endParaRPr lang="en-US" altLang="zh-CN" sz="1600">
              <a:solidFill>
                <a:srgbClr val="595959"/>
              </a:solidFill>
              <a:latin typeface="Calibri" panose="020F0502020204030204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65175" y="5987415"/>
            <a:ext cx="3872865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MOTIVATION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5985" y="658495"/>
            <a:ext cx="1060704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One Budget, Two Ways to Spend It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3709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5138"/>
            <a:ext cx="10241280" cy="1230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0">
                <a:solidFill>
                  <a:srgbClr val="2E75B6"/>
                </a:solidFill>
                <a:latin typeface="Calibri" panose="020F0502020204030204"/>
              </a:rPr>
              <a:t>Test-time compute allocation</a:t>
            </a:r>
            <a:r>
              <a:rPr lang="en-US" altLang="zh-CN" sz="2000" b="0" i="0">
                <a:solidFill>
                  <a:srgbClr val="262626"/>
                </a:solidFill>
                <a:latin typeface="Calibri" panose="020F0502020204030204"/>
              </a:rPr>
              <a:t> is </a:t>
            </a: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the problem of dividing a fixed inference budget (a fixed number of model calls) between search and verification.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i="0">
                <a:solidFill>
                  <a:srgbClr val="262626"/>
                </a:solidFill>
                <a:latin typeface="Calibri" panose="020F0502020204030204"/>
              </a:rPr>
              <a:t>Think about it: </a:t>
            </a:r>
            <a:r>
              <a:rPr sz="2000" b="0" i="0">
                <a:solidFill>
                  <a:srgbClr val="262626"/>
                </a:solidFill>
                <a:latin typeface="Calibri" panose="020F0502020204030204"/>
              </a:rPr>
              <a:t>You have an open-source model (e.g. Qwen3-4B, ~4 GB quantized)</a:t>
            </a:r>
            <a:r>
              <a:rPr lang="en-US" sz="2000" b="0" i="0">
                <a:solidFill>
                  <a:srgbClr val="262626"/>
                </a:solidFill>
                <a:latin typeface="Calibri" panose="020F0502020204030204"/>
              </a:rPr>
              <a:t>,</a:t>
            </a:r>
            <a:r>
              <a:rPr sz="2000" b="0" i="0">
                <a:solidFill>
                  <a:srgbClr val="262626"/>
                </a:solidFill>
                <a:latin typeface="Calibri" panose="020F0502020204030204"/>
              </a:rPr>
              <a:t> MATH-500 competition problems, and a hard cap of </a:t>
            </a: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50 inference calls per problem</a:t>
            </a:r>
            <a:r>
              <a:rPr sz="2000" b="0" i="0">
                <a:solidFill>
                  <a:srgbClr val="262626"/>
                </a:solidFill>
                <a:latin typeface="Calibri" panose="020F0502020204030204"/>
              </a:rPr>
              <a:t>. How do you spend them?</a:t>
            </a:r>
            <a:endParaRPr lang="en-US" altLang="zh-CN" sz="2000" b="1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021330"/>
            <a:ext cx="5120640" cy="141351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572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chemeClr val="accent1"/>
                </a:solidFill>
                <a:latin typeface="Segoe UI" panose="020B0502040204020203"/>
              </a:rPr>
              <a:t>Plan A</a:t>
            </a:r>
            <a:r>
              <a:rPr lang="en-US" sz="2000" b="1" i="0">
                <a:solidFill>
                  <a:schemeClr val="accent1"/>
                </a:solidFill>
                <a:latin typeface="Segoe UI" panose="020B0502040204020203"/>
              </a:rPr>
              <a:t>: </a:t>
            </a:r>
            <a:r>
              <a:rPr sz="2000" b="1" i="0">
                <a:solidFill>
                  <a:schemeClr val="accent1"/>
                </a:solidFill>
                <a:latin typeface="Segoe UI" panose="020B0502040204020203"/>
              </a:rPr>
              <a:t>Search</a:t>
            </a:r>
            <a:endParaRPr sz="2000" b="1" i="0">
              <a:solidFill>
                <a:schemeClr val="accent1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3471545"/>
            <a:ext cx="4572000" cy="7321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Generate 50 unique answers, conduct a vote, and select the answer with the highest frequency as the final answer.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3044825"/>
            <a:ext cx="5120640" cy="1390015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063240"/>
            <a:ext cx="4572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chemeClr val="accent6"/>
                </a:solidFill>
                <a:latin typeface="Segoe UI" panose="020B0502040204020203"/>
              </a:rPr>
              <a:t>Plan B</a:t>
            </a:r>
            <a:r>
              <a:rPr lang="en-US" sz="2000" b="1" i="0">
                <a:solidFill>
                  <a:schemeClr val="accent6"/>
                </a:solidFill>
                <a:latin typeface="Segoe UI" panose="020B0502040204020203"/>
              </a:rPr>
              <a:t>: </a:t>
            </a:r>
            <a:r>
              <a:rPr sz="2000" b="1" i="0">
                <a:solidFill>
                  <a:schemeClr val="accent6"/>
                </a:solidFill>
                <a:latin typeface="Segoe UI" panose="020B0502040204020203"/>
              </a:rPr>
              <a:t>Verify</a:t>
            </a:r>
            <a:endParaRPr sz="2000" b="1" i="0">
              <a:solidFill>
                <a:schemeClr val="accent6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20840" y="3392805"/>
            <a:ext cx="45720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Generate 5 distinct answers, have the model check each of these answers 9 times and score them, then select the answer with the highest average score as the final answer.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36262"/>
            <a:ext cx="10241280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0">
                <a:solidFill>
                  <a:srgbClr val="2E75B6"/>
                </a:solidFill>
                <a:latin typeface="Calibri" panose="020F0502020204030204"/>
              </a:rPr>
              <a:t>What does your intuition tell you?</a:t>
            </a:r>
            <a:r>
              <a:rPr sz="2000" b="1" i="0">
                <a:solidFill>
                  <a:srgbClr val="2E75B6"/>
                </a:solidFill>
                <a:latin typeface="Calibri" panose="020F0502020204030204"/>
              </a:rPr>
              <a:t>  </a:t>
            </a:r>
            <a:r>
              <a:rPr lang="en-US" altLang="zh-CN" sz="2000" b="0" i="0">
                <a:solidFill>
                  <a:srgbClr val="262626"/>
                </a:solidFill>
                <a:latin typeface="Calibri" panose="020F0502020204030204"/>
              </a:rPr>
              <a:t>Many people pick Plan B: a model checking itself sounds smarter than a crowd of blind guesses.</a:t>
            </a:r>
            <a:r>
              <a:rPr sz="2000"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lang="en-US" sz="2000" b="0" i="0">
                <a:solidFill>
                  <a:srgbClr val="262626"/>
                </a:solidFill>
                <a:latin typeface="Calibri" panose="020F0502020204030204"/>
              </a:rPr>
              <a:t>However, </a:t>
            </a:r>
            <a:r>
              <a:rPr sz="2000" b="1" i="0">
                <a:solidFill>
                  <a:srgbClr val="B4550D"/>
                </a:solidFill>
                <a:latin typeface="Calibri" panose="020F0502020204030204"/>
              </a:rPr>
              <a:t>some 2025 research</a:t>
            </a:r>
            <a:r>
              <a:rPr lang="en-US" sz="2000" b="1" i="0">
                <a:solidFill>
                  <a:srgbClr val="B4550D"/>
                </a:solidFill>
                <a:latin typeface="Calibri" panose="020F0502020204030204"/>
              </a:rPr>
              <a:t>es</a:t>
            </a:r>
            <a:r>
              <a:rPr sz="2000" b="1" i="0">
                <a:solidFill>
                  <a:srgbClr val="B4550D"/>
                </a:solidFill>
                <a:latin typeface="Calibri" panose="020F0502020204030204"/>
              </a:rPr>
              <a:t> on weak verifiers say the opposite.</a:t>
            </a:r>
            <a:endParaRPr sz="20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26760"/>
            <a:ext cx="103327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This course will guide you through </a:t>
            </a:r>
            <a:r>
              <a:rPr lang="en-US" altLang="zh-CN" b="1" i="0">
                <a:solidFill>
                  <a:srgbClr val="FFFFFF"/>
                </a:solidFill>
                <a:latin typeface="Calibri" panose="020F0502020204030204"/>
              </a:rPr>
              <a:t>verifying the above claims on your own</a:t>
            </a: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, and </a:t>
            </a:r>
            <a:r>
              <a:rPr lang="en-US" altLang="zh-CN" b="1" i="0">
                <a:solidFill>
                  <a:srgbClr val="FFFFFF"/>
                </a:solidFill>
                <a:latin typeface="Calibri" panose="020F0502020204030204"/>
              </a:rPr>
              <a:t>evaluating how to choose between the two strategies</a:t>
            </a: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 </a:t>
            </a:r>
            <a:r>
              <a:rPr lang="en-US" altLang="zh-CN">
                <a:solidFill>
                  <a:srgbClr val="FFFFFF"/>
                </a:solidFill>
                <a:latin typeface="Calibri" panose="020F0502020204030204"/>
                <a:sym typeface="+mn-ea"/>
              </a:rPr>
              <a:t>from a mathematical perspective</a:t>
            </a: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.</a:t>
            </a:r>
            <a:endParaRPr lang="en-US" altLang="zh-CN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文本框 19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 /20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Rounded Rectangle 27"/>
          <p:cNvSpPr/>
          <p:nvPr>
            <p:custDataLst>
              <p:tags r:id="rId1"/>
            </p:custDataLst>
          </p:nvPr>
        </p:nvSpPr>
        <p:spPr>
          <a:xfrm>
            <a:off x="9509760" y="2051558"/>
            <a:ext cx="2011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2"/>
            </p:custDataLst>
          </p:nvPr>
        </p:nvSpPr>
        <p:spPr>
          <a:xfrm>
            <a:off x="7292340" y="2051558"/>
            <a:ext cx="2011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3"/>
            </p:custDataLst>
          </p:nvPr>
        </p:nvSpPr>
        <p:spPr>
          <a:xfrm>
            <a:off x="5074920" y="2051558"/>
            <a:ext cx="2011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2857500" y="2051558"/>
            <a:ext cx="2011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640080" y="2051558"/>
            <a:ext cx="2011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MOTIVATION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5985" y="658495"/>
            <a:ext cx="10607040" cy="530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Why the Answer Arrived in 2025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>
            <p:custDataLst>
              <p:tags r:id="rId6"/>
            </p:custDataLst>
          </p:nvPr>
        </p:nvSpPr>
        <p:spPr>
          <a:xfrm>
            <a:off x="640080" y="1554480"/>
            <a:ext cx="2011680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749808" y="1682496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before 2025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8"/>
            </p:custDataLst>
          </p:nvPr>
        </p:nvSpPr>
        <p:spPr>
          <a:xfrm>
            <a:off x="716280" y="2131060"/>
            <a:ext cx="1862455" cy="1849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Stuck on a problem? Have the model "think a little deeper" (chain-of-thought). But there was no systematic answer to how to split a fixed call budget.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10" name="Right Arrow 9"/>
          <p:cNvSpPr/>
          <p:nvPr>
            <p:custDataLst>
              <p:tags r:id="rId9"/>
            </p:custDataLst>
          </p:nvPr>
        </p:nvSpPr>
        <p:spPr>
          <a:xfrm>
            <a:off x="2679192" y="1755648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10"/>
            </p:custDataLst>
          </p:nvPr>
        </p:nvSpPr>
        <p:spPr>
          <a:xfrm>
            <a:off x="2857500" y="1554480"/>
            <a:ext cx="20116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2967228" y="1682496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ICLR 2025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2985770" y="2131060"/>
            <a:ext cx="1755775" cy="1839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Trained a "step-checker" (PRM) that grades each reasoning step. Finding: the best strategy depends on difficulty and budget.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15" name="Right Arrow 14"/>
          <p:cNvSpPr/>
          <p:nvPr>
            <p:custDataLst>
              <p:tags r:id="rId13"/>
            </p:custDataLst>
          </p:nvPr>
        </p:nvSpPr>
        <p:spPr>
          <a:xfrm>
            <a:off x="4896612" y="1755648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4"/>
            </p:custDataLst>
          </p:nvPr>
        </p:nvSpPr>
        <p:spPr>
          <a:xfrm>
            <a:off x="5074920" y="1554480"/>
            <a:ext cx="20116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5"/>
            </p:custDataLst>
          </p:nvPr>
        </p:nvSpPr>
        <p:spPr>
          <a:xfrm>
            <a:off x="5184648" y="1682496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COLM 2025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5202301" y="2396490"/>
            <a:ext cx="1755648" cy="1230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Even a verifier with zero training helps, but only a little. First clue: verifier quality caps the gains.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20" name="Right Arrow 19"/>
          <p:cNvSpPr/>
          <p:nvPr>
            <p:custDataLst>
              <p:tags r:id="rId17"/>
            </p:custDataLst>
          </p:nvPr>
        </p:nvSpPr>
        <p:spPr>
          <a:xfrm>
            <a:off x="7114032" y="1755648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8"/>
            </p:custDataLst>
          </p:nvPr>
        </p:nvSpPr>
        <p:spPr>
          <a:xfrm>
            <a:off x="7292340" y="1554480"/>
            <a:ext cx="20116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9"/>
            </p:custDataLst>
          </p:nvPr>
        </p:nvSpPr>
        <p:spPr>
          <a:xfrm>
            <a:off x="7402068" y="1682496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ICML 2025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7405751" y="2273300"/>
            <a:ext cx="1755648" cy="1477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With a huge budget, sampling + self-verification beat a specialist reasoning model (such as GPT o1-Preview).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25" name="Right Arrow 24"/>
          <p:cNvSpPr/>
          <p:nvPr>
            <p:custDataLst>
              <p:tags r:id="rId21"/>
            </p:custDataLst>
          </p:nvPr>
        </p:nvSpPr>
        <p:spPr>
          <a:xfrm>
            <a:off x="9331452" y="1755648"/>
            <a:ext cx="150876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22"/>
            </p:custDataLst>
          </p:nvPr>
        </p:nvSpPr>
        <p:spPr>
          <a:xfrm>
            <a:off x="9509760" y="1554480"/>
            <a:ext cx="20116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3"/>
            </p:custDataLst>
          </p:nvPr>
        </p:nvSpPr>
        <p:spPr>
          <a:xfrm>
            <a:off x="9619488" y="1682496"/>
            <a:ext cx="18288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NeurIPS 2025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9582785" y="2221865"/>
                <a:ext cx="1842770" cy="1579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0" i="0">
                    <a:solidFill>
                      <a:srgbClr val="262626"/>
                    </a:solidFill>
                    <a:latin typeface="Calibri" panose="020F0502020204030204"/>
                  </a:rPr>
                  <a:t>Pairwise comparisons stay guaranteed even below accuracy rate </a:t>
                </a:r>
                <a14:m>
                  <m:oMath xmlns:m="http://schemas.openxmlformats.org/officeDocument/2006/math">
                    <m:r>
                      <a:rPr lang="en-US" alt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 sz="1600" b="0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sz="1600" b="0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b="0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600" b="0" i="0">
                    <a:solidFill>
                      <a:srgbClr val="262626"/>
                    </a:solidFill>
                    <a:latin typeface="Calibri" panose="020F0502020204030204"/>
                  </a:rPr>
                  <a:t>; one long chain beats many short ones exponentially.</a:t>
                </a:r>
                <a:endParaRPr lang="en-US" altLang="zh-CN" sz="16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9582785" y="2221865"/>
                <a:ext cx="1842770" cy="1579880"/>
              </a:xfrm>
              <a:prstGeom prst="rect">
                <a:avLst/>
              </a:prstGeom>
              <a:blipFill rotWithShape="1">
                <a:blip r:embed="rId26"/>
                <a:stretch>
                  <a:fillRect t="-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640080" y="4248785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404360"/>
            <a:ext cx="10241280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262626"/>
                </a:solidFill>
                <a:latin typeface="Calibri" panose="020F0502020204030204"/>
              </a:rPr>
              <a:t>In this course, our setup is: </a:t>
            </a: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a weak </a:t>
            </a:r>
            <a:r>
              <a:rPr lang="en-US" altLang="zh-CN" sz="2000" b="1" i="0">
                <a:solidFill>
                  <a:srgbClr val="1F3864"/>
                </a:solidFill>
                <a:latin typeface="Calibri" panose="020F0502020204030204"/>
              </a:rPr>
              <a:t>verifier</a:t>
            </a: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 (LLM self-scoring) + a moderate budget (number of inferences B</a:t>
            </a:r>
            <a:r>
              <a:rPr lang="en-US" sz="2000" b="1" i="0">
                <a:solidFill>
                  <a:srgbClr val="1F3864"/>
                </a:solidFill>
                <a:latin typeface="Calibri" panose="020F0502020204030204"/>
              </a:rPr>
              <a:t> </a:t>
            </a: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=</a:t>
            </a:r>
            <a:r>
              <a:rPr lang="en-US" sz="2000" b="1" i="0">
                <a:solidFill>
                  <a:srgbClr val="1F3864"/>
                </a:solidFill>
                <a:latin typeface="Calibri" panose="020F0502020204030204"/>
              </a:rPr>
              <a:t> </a:t>
            </a: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50).</a:t>
            </a:r>
            <a:r>
              <a:rPr sz="2000" i="0">
                <a:solidFill>
                  <a:srgbClr val="262626"/>
                </a:solidFill>
                <a:latin typeface="Calibri" panose="020F0502020204030204"/>
              </a:rPr>
              <a:t> Under this setup, </a:t>
            </a:r>
            <a:r>
              <a:rPr sz="2000">
                <a:solidFill>
                  <a:srgbClr val="262626"/>
                </a:solidFill>
                <a:latin typeface="Calibri" panose="020F0502020204030204"/>
                <a:sym typeface="+mn-ea"/>
              </a:rPr>
              <a:t>the trade-off is determined by a probabilistic model, and </a:t>
            </a:r>
            <a:r>
              <a:rPr lang="en-US" altLang="zh-CN" sz="2000" b="1">
                <a:solidFill>
                  <a:srgbClr val="B4550D"/>
                </a:solidFill>
                <a:latin typeface="Calibri" panose="020F0502020204030204"/>
                <a:sym typeface="+mn-ea"/>
              </a:rPr>
              <a:t>the experiments in the workbook will allow you to verify this model for yourself.</a:t>
            </a:r>
            <a:endParaRPr lang="en-US" altLang="zh-CN" sz="2000" b="1" i="0">
              <a:solidFill>
                <a:srgbClr val="B4550D"/>
              </a:solidFill>
              <a:latin typeface="Calibri" panose="020F0502020204030204"/>
              <a:sym typeface="+mn-ea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26760"/>
            <a:ext cx="103327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i="0">
                <a:solidFill>
                  <a:srgbClr val="FFFFFF"/>
                </a:solidFill>
                <a:latin typeface="Calibri" panose="020F0502020204030204"/>
              </a:rPr>
              <a:t>Tips</a:t>
            </a:r>
            <a:r>
              <a:rPr b="1" i="0">
                <a:solidFill>
                  <a:srgbClr val="FFFFFF"/>
                </a:solidFill>
                <a:latin typeface="Calibri" panose="020F0502020204030204"/>
              </a:rPr>
              <a:t>: 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test-time compute allocation became a research question only recently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, 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and </a:t>
            </a:r>
            <a:r>
              <a:rPr b="1" i="0">
                <a:solidFill>
                  <a:srgbClr val="FFFFFF"/>
                </a:solidFill>
                <a:latin typeface="Calibri" panose="020F0502020204030204"/>
              </a:rPr>
              <a:t>the answer depends on who judges the answers.</a:t>
            </a:r>
            <a:endParaRPr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文本框 38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 /20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CONCEPTS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What Counts as One Inference Call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084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1" i="0">
                <a:solidFill>
                  <a:srgbClr val="1F3864"/>
                </a:solidFill>
                <a:latin typeface="Calibri" panose="020F0502020204030204"/>
              </a:rPr>
              <a:t>One inference call = one LLM call producing one text</a:t>
            </a:r>
            <a:r>
              <a:rPr lang="en-US"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(a candidate answer, or one verification judgment).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1" i="0">
                <a:solidFill>
                  <a:schemeClr val="accent1"/>
                </a:solidFill>
                <a:latin typeface="Calibri" panose="020F0502020204030204"/>
              </a:rPr>
              <a:t>Voting costs nothing:</a:t>
            </a:r>
            <a:r>
              <a:rPr b="1" i="0">
                <a:solidFill>
                  <a:srgbClr val="1E8A55"/>
                </a:solidFill>
                <a:latin typeface="Calibri" panose="020F0502020204030204"/>
              </a:rPr>
              <a:t> 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counting how often each answer appears is free arithmetic.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B4550D"/>
                </a:solidFill>
                <a:latin typeface="Calibri" panose="020F0502020204030204"/>
              </a:rPr>
              <a:t>Verification costs real calls: 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each of the N candidates is re-scored M times.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059430"/>
            <a:ext cx="100584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The budget identity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40080" y="3520440"/>
            <a:ext cx="5120640" cy="1371600"/>
          </a:xfrm>
          <a:prstGeom prst="roundRect">
            <a:avLst>
              <a:gd name="adj" fmla="val 1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3657600"/>
                <a:ext cx="4572000" cy="6153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1F3864"/>
                    </a:solidFill>
                    <a:latin typeface="Cambria Math" panose="02040503050406030204"/>
                  </a:rPr>
                  <a:t>Search: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𝑵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×(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𝟏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𝑴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𝑩</m:t>
                    </m:r>
                  </m:oMath>
                </a14:m>
                <a:r>
                  <a:rPr lang="en-US" sz="2000" b="1" i="0">
                    <a:solidFill>
                      <a:srgbClr val="1F3864"/>
                    </a:solidFill>
                    <a:latin typeface="Cambria Math" panose="02040503050406030204"/>
                  </a:rPr>
                  <a:t> </a:t>
                </a:r>
                <a:r>
                  <a:rPr sz="2000" b="1" i="0">
                    <a:solidFill>
                      <a:srgbClr val="1F3864"/>
                    </a:solidFill>
                    <a:latin typeface="Cambria Math" panose="02040503050406030204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𝑴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𝟎</m:t>
                    </m:r>
                  </m:oMath>
                </a14:m>
                <a:endParaRPr lang="en-US" sz="2000" b="1" i="1">
                  <a:solidFill>
                    <a:srgbClr val="1F3864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i="0">
                    <a:solidFill>
                      <a:srgbClr val="1F3864"/>
                    </a:solidFill>
                    <a:latin typeface="Cambria Math" panose="02040503050406030204"/>
                  </a:rPr>
                  <a:t>That is,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𝑵</m:t>
                    </m:r>
                    <m:r>
                      <a:rPr lang="en-US" altLang="zh-CN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𝑩</m:t>
                    </m:r>
                  </m:oMath>
                </a14:m>
                <a:endParaRPr lang="en-US" altLang="zh-CN" sz="2000" b="1" i="1">
                  <a:solidFill>
                    <a:srgbClr val="1F3864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914400" y="3657600"/>
                <a:ext cx="4572000" cy="6153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914400" y="4272915"/>
            <a:ext cx="45720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1">
                <a:solidFill>
                  <a:srgbClr val="595959"/>
                </a:solidFill>
                <a:latin typeface="Calibri" panose="020F0502020204030204"/>
              </a:rPr>
              <a:t>All the budget is used to generate candidate answers;</a:t>
            </a:r>
            <a:endParaRPr lang="en-US" altLang="zh-CN" sz="1600" b="0" i="1">
              <a:solidFill>
                <a:srgbClr val="595959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>
                <a:solidFill>
                  <a:srgbClr val="595959"/>
                </a:solidFill>
                <a:latin typeface="Calibri" panose="020F0502020204030204"/>
              </a:rPr>
              <a:t>e</a:t>
            </a: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very call grows the candidate pool</a:t>
            </a:r>
            <a:r>
              <a:rPr lang="en-US" sz="1600" b="0" i="1">
                <a:solidFill>
                  <a:srgbClr val="595959"/>
                </a:solidFill>
                <a:latin typeface="Calibri" panose="020F0502020204030204"/>
              </a:rPr>
              <a:t>.</a:t>
            </a:r>
            <a:endParaRPr lang="en-US"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6400800" y="3520440"/>
            <a:ext cx="5120640" cy="1371600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75120" y="3657600"/>
                <a:ext cx="4572000" cy="3073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B4550D"/>
                    </a:solidFill>
                    <a:latin typeface="Cambria Math" panose="02040503050406030204"/>
                  </a:rPr>
                  <a:t>Verify: 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𝑵</m:t>
                    </m:r>
                    <m:r>
                      <a:rPr lang="en-US" altLang="zh-CN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×(</m:t>
                    </m:r>
                    <m:r>
                      <a:rPr lang="en-US" altLang="zh-CN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𝑴</m:t>
                    </m:r>
                    <m:r>
                      <a:rPr lang="en-US" altLang="zh-CN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𝑩</m:t>
                    </m:r>
                  </m:oMath>
                </a14:m>
                <a:r>
                  <a:rPr lang="en-US" sz="2000" b="1" i="0">
                    <a:solidFill>
                      <a:srgbClr val="B4550D"/>
                    </a:solidFill>
                    <a:latin typeface="Cambria Math" panose="02040503050406030204"/>
                  </a:rPr>
                  <a:t> </a:t>
                </a:r>
                <a:r>
                  <a:rPr sz="2000" b="1" i="0">
                    <a:solidFill>
                      <a:srgbClr val="B4550D"/>
                    </a:solidFill>
                    <a:latin typeface="Cambria Math" panose="02040503050406030204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𝑴</m:t>
                    </m:r>
                    <m:r>
                      <a:rPr lang="en-US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r>
                      <a:rPr lang="en-US" sz="20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𝟎</m:t>
                    </m:r>
                  </m:oMath>
                </a14:m>
                <a:endParaRPr lang="en-US" altLang="zh-CN" sz="2000" b="1" i="0">
                  <a:solidFill>
                    <a:srgbClr val="B4550D"/>
                  </a:solidFill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6675120" y="3657600"/>
                <a:ext cx="4572000" cy="30734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6675120" y="4079240"/>
            <a:ext cx="45720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>
                <a:solidFill>
                  <a:srgbClr val="595959"/>
                </a:solidFill>
                <a:latin typeface="Calibri" panose="020F0502020204030204"/>
              </a:rPr>
              <a:t>B</a:t>
            </a: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udget is split between generating and re-checking</a:t>
            </a:r>
            <a:r>
              <a:rPr lang="en-US" sz="1600" b="0" i="1">
                <a:solidFill>
                  <a:srgbClr val="595959"/>
                </a:solidFill>
                <a:latin typeface="Calibri" panose="020F0502020204030204"/>
              </a:rPr>
              <a:t>;</a:t>
            </a:r>
            <a:endParaRPr sz="1600" b="0" i="1">
              <a:solidFill>
                <a:srgbClr val="595959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1">
                <a:solidFill>
                  <a:srgbClr val="595959"/>
                </a:solidFill>
                <a:latin typeface="Calibri" panose="020F0502020204030204"/>
              </a:rPr>
              <a:t>different allocations give different results.</a:t>
            </a:r>
            <a:endParaRPr lang="en-US" altLang="zh-CN"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521208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416550"/>
            <a:ext cx="10332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If the correct answer was never generated (for any reason), no amount of re-checking can find it.</a:t>
            </a:r>
            <a:endParaRPr lang="en-US" altLang="zh-CN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文本框 19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4 /20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CONCEPTS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1060704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Search or Verify? A Head-to-Head</a:t>
            </a:r>
            <a:r>
              <a:rPr lang="en-US" sz="2800" b="1" i="0">
                <a:solidFill>
                  <a:srgbClr val="1F3864"/>
                </a:solidFill>
                <a:latin typeface="Segoe UI" panose="020B0502040204020203"/>
              </a:rPr>
              <a:t> </a:t>
            </a:r>
            <a:r>
              <a:rPr lang="en-US" altLang="zh-CN" sz="2800" b="1" i="0">
                <a:solidFill>
                  <a:srgbClr val="1F3864"/>
                </a:solidFill>
                <a:latin typeface="Segoe UI" panose="020B0502040204020203"/>
              </a:rPr>
              <a:t>Comparison</a:t>
            </a:r>
            <a:endParaRPr lang="en-US" altLang="zh-CN"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35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4" name="组合 153"/>
          <p:cNvGrpSpPr/>
          <p:nvPr/>
        </p:nvGrpSpPr>
        <p:grpSpPr>
          <a:xfrm>
            <a:off x="830580" y="1196975"/>
            <a:ext cx="10737850" cy="5379720"/>
            <a:chOff x="1628" y="1851"/>
            <a:chExt cx="16910" cy="8472"/>
          </a:xfrm>
        </p:grpSpPr>
        <p:pic>
          <p:nvPicPr>
            <p:cNvPr id="151" name="图片 150" descr="策略对比"/>
            <p:cNvPicPr>
              <a:picLocks noChangeAspect="1"/>
            </p:cNvPicPr>
            <p:nvPr/>
          </p:nvPicPr>
          <p:blipFill>
            <a:blip r:embed="rId1"/>
            <a:srcRect r="61584"/>
            <a:stretch>
              <a:fillRect/>
            </a:stretch>
          </p:blipFill>
          <p:spPr>
            <a:xfrm>
              <a:off x="1628" y="1851"/>
              <a:ext cx="5671" cy="8438"/>
            </a:xfrm>
            <a:prstGeom prst="rect">
              <a:avLst/>
            </a:prstGeom>
          </p:spPr>
        </p:pic>
        <p:pic>
          <p:nvPicPr>
            <p:cNvPr id="152" name="图片 151" descr="策略对比"/>
            <p:cNvPicPr>
              <a:picLocks noChangeAspect="1"/>
            </p:cNvPicPr>
            <p:nvPr/>
          </p:nvPicPr>
          <p:blipFill>
            <a:blip r:embed="rId1"/>
            <a:srcRect l="37933" r="44939"/>
            <a:stretch>
              <a:fillRect/>
            </a:stretch>
          </p:blipFill>
          <p:spPr>
            <a:xfrm>
              <a:off x="8330" y="1851"/>
              <a:ext cx="2539" cy="8472"/>
            </a:xfrm>
            <a:prstGeom prst="rect">
              <a:avLst/>
            </a:prstGeom>
          </p:spPr>
        </p:pic>
        <p:pic>
          <p:nvPicPr>
            <p:cNvPr id="153" name="图片 152" descr="策略对比"/>
            <p:cNvPicPr>
              <a:picLocks noChangeAspect="1"/>
            </p:cNvPicPr>
            <p:nvPr/>
          </p:nvPicPr>
          <p:blipFill>
            <a:blip r:embed="rId1"/>
            <a:srcRect l="55027"/>
            <a:stretch>
              <a:fillRect/>
            </a:stretch>
          </p:blipFill>
          <p:spPr>
            <a:xfrm>
              <a:off x="11900" y="1851"/>
              <a:ext cx="6638" cy="8437"/>
            </a:xfrm>
            <a:prstGeom prst="rect">
              <a:avLst/>
            </a:prstGeom>
          </p:spPr>
        </p:pic>
      </p:grpSp>
      <p:sp>
        <p:nvSpPr>
          <p:cNvPr id="156" name="文本框 155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5 /20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MODEL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Modeling a Single Candidate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3018155"/>
            <a:ext cx="5120640" cy="1828800"/>
          </a:xfrm>
          <a:prstGeom prst="roundRect">
            <a:avLst>
              <a:gd name="adj" fmla="val 7000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8505" y="3220085"/>
                <a:ext cx="4923790" cy="14617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b="0" i="0">
                    <a:solidFill>
                      <a:srgbClr val="262626"/>
                    </a:solidFill>
                    <a:latin typeface="Calibri" panose="020F0502020204030204" charset="0"/>
                    <a:cs typeface="Calibri" panose="020F0502020204030204" charset="0"/>
                  </a:rPr>
                  <a:t>Each independent candidate is correct with probability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</m:oMath>
                </a14:m>
                <a:r>
                  <a:rPr lang="en-US" b="0" i="0">
                    <a:solidFill>
                      <a:srgbClr val="262626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b="0" i="0">
                    <a:solidFill>
                      <a:srgbClr val="262626"/>
                    </a:solidFill>
                    <a:latin typeface="Calibri" panose="020F0502020204030204" charset="0"/>
                    <a:cs typeface="Calibri" panose="020F0502020204030204" charset="0"/>
                  </a:rPr>
                  <a:t>(e.g.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3</m:t>
                    </m:r>
                  </m:oMath>
                </a14:m>
                <a:r>
                  <a:rPr b="0" i="0">
                    <a:solidFill>
                      <a:srgbClr val="262626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b="0" i="0">
                    <a:solidFill>
                      <a:srgbClr val="26262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b="0" i="0">
                    <a:solidFill>
                      <a:srgbClr val="262626"/>
                    </a:solidFill>
                    <a:latin typeface="Calibri" panose="020F0502020204030204" charset="0"/>
                    <a:cs typeface="Calibri" panose="020F0502020204030204" charset="0"/>
                  </a:rPr>
                  <a:t> 1 in 3 answers is right).</a:t>
                </a:r>
                <a:endParaRPr b="0" i="0">
                  <a:solidFill>
                    <a:srgbClr val="262626"/>
                  </a:solidFill>
                  <a:latin typeface="Calibri" panose="020F0502020204030204" charset="0"/>
                  <a:cs typeface="Calibri" panose="020F050202020403020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i="0">
                    <a:solidFill>
                      <a:srgbClr val="B4550D"/>
                    </a:solidFill>
                    <a:latin typeface="Calibri" panose="020F0502020204030204" charset="0"/>
                    <a:cs typeface="Calibri" panose="020F0502020204030204" charset="0"/>
                  </a:rPr>
                  <a:t>Independence is an assumption</a:t>
                </a:r>
                <a:r>
                  <a:rPr b="0" i="0">
                    <a:solidFill>
                      <a:srgbClr val="262626"/>
                    </a:solidFill>
                    <a:latin typeface="Calibri" panose="020F0502020204030204" charset="0"/>
                    <a:cs typeface="Calibri" panose="020F0502020204030204" charset="0"/>
                  </a:rPr>
                  <a:t>—candidates are separate calls, so errors do not have to align (until they do).</a:t>
                </a:r>
                <a:endParaRPr b="0" i="0">
                  <a:solidFill>
                    <a:srgbClr val="262626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05" y="3220085"/>
                <a:ext cx="4923790" cy="1461770"/>
              </a:xfrm>
              <a:prstGeom prst="rect">
                <a:avLst/>
              </a:prstGeom>
              <a:blipFill rotWithShape="1">
                <a:blip r:embed="rId1"/>
                <a:stretch>
                  <a:fillRect t="-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6355080" y="3018155"/>
            <a:ext cx="5166360" cy="1828800"/>
          </a:xfrm>
          <a:prstGeom prst="roundRect">
            <a:avLst>
              <a:gd name="adj" fmla="val 700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546850" y="3058160"/>
                <a:ext cx="4783455" cy="174879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b="0" i="0">
                    <a:solidFill>
                      <a:schemeClr val="tx1"/>
                    </a:solidFill>
                    <a:latin typeface="Calibri" panose="020F0502020204030204"/>
                  </a:rPr>
                  <a:t>A majority vote fails when </a:t>
                </a:r>
                <a:r>
                  <a:rPr b="1" i="0">
                    <a:solidFill>
                      <a:srgbClr val="1F3864"/>
                    </a:solidFill>
                    <a:latin typeface="Calibri" panose="020F0502020204030204"/>
                  </a:rPr>
                  <a:t>more than half the candidates are wrong</a:t>
                </a:r>
                <a:r>
                  <a:rPr lang="en-US" b="1" i="0">
                    <a:solidFill>
                      <a:schemeClr val="tx1"/>
                    </a:solidFill>
                    <a:latin typeface="Calibri" panose="020F0502020204030204"/>
                  </a:rPr>
                  <a:t> </a:t>
                </a:r>
                <a:r>
                  <a:rPr lang="en-US" altLang="zh-CN" b="0" i="0">
                    <a:solidFill>
                      <a:schemeClr val="tx1"/>
                    </a:solidFill>
                    <a:latin typeface="Calibri" panose="020F0502020204030204"/>
                  </a:rPr>
                  <a:t>(ties count as failure in this course's convention)</a:t>
                </a:r>
                <a:r>
                  <a:rPr b="0" i="0">
                    <a:solidFill>
                      <a:schemeClr val="tx1"/>
                    </a:solidFill>
                    <a:latin typeface="Calibri" panose="020F0502020204030204"/>
                  </a:rPr>
                  <a:t>.</a:t>
                </a:r>
                <a:endParaRPr b="0" i="0">
                  <a:solidFill>
                    <a:schemeClr val="tx1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i="0">
                    <a:solidFill>
                      <a:schemeClr val="tx1"/>
                    </a:solidFill>
                    <a:latin typeface="Calibri" panose="020F0502020204030204"/>
                  </a:rPr>
                  <a:t>This is far weaker than “all N wrong”: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zh-CN" b="0" i="0">
                    <a:solidFill>
                      <a:schemeClr val="tx1"/>
                    </a:solidFill>
                    <a:latin typeface="Calibri" panose="020F0502020204030204"/>
                  </a:rPr>
                  <a:t> bound covers only that extreme—failure needs just a slim majority of errors.</a:t>
                </a:r>
                <a:endParaRPr lang="en-US" altLang="zh-CN" b="0" i="0">
                  <a:solidFill>
                    <a:schemeClr val="tx1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850" y="3058160"/>
                <a:ext cx="4783455" cy="1748790"/>
              </a:xfrm>
              <a:prstGeom prst="rect">
                <a:avLst/>
              </a:prstGeom>
              <a:blipFill rotWithShape="1">
                <a:blip r:embed="rId2"/>
                <a:stretch>
                  <a:fillRect t="-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40080" y="1362710"/>
            <a:ext cx="1088136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60120" y="1610995"/>
                <a:ext cx="10241280" cy="692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2000" b="1" i="0">
                    <a:solidFill>
                      <a:srgbClr val="1F3864"/>
                    </a:solidFill>
                    <a:latin typeface="Calibri" panose="020F0502020204030204" charset="0"/>
                    <a:cs typeface="Calibri" panose="020F0502020204030204" charset="0"/>
                  </a:rPr>
                  <a:t>Crude bound: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𝑎𝑙𝑙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𝑤𝑟𝑜𝑛𝑔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sz="2000" b="0" i="0">
                    <a:solidFill>
                      <a:srgbClr val="595959"/>
                    </a:solidFill>
                    <a:latin typeface="Calibri" panose="020F0502020204030204" charset="0"/>
                    <a:cs typeface="Calibri" panose="020F0502020204030204" charset="0"/>
                  </a:rPr>
                  <a:t>—but this only bounds the all-wrong case.</a:t>
                </a:r>
                <a:endParaRPr sz="2000" b="0" i="0">
                  <a:solidFill>
                    <a:srgbClr val="595959"/>
                  </a:solidFill>
                  <a:latin typeface="Calibri" panose="020F0502020204030204" charset="0"/>
                  <a:cs typeface="Calibri" panose="020F050202020403020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B4550D"/>
                    </a:solidFill>
                    <a:latin typeface="Calibri" panose="020F0502020204030204" charset="0"/>
                    <a:cs typeface="Calibri" panose="020F0502020204030204" charset="0"/>
                  </a:rPr>
                  <a:t>The real question</a:t>
                </a:r>
                <a:r>
                  <a:rPr lang="en-US" sz="2000" b="1" i="0">
                    <a:solidFill>
                      <a:srgbClr val="B4550D"/>
                    </a:solidFill>
                    <a:latin typeface="Calibri" panose="020F0502020204030204" charset="0"/>
                    <a:cs typeface="Calibri" panose="020F0502020204030204" charset="0"/>
                  </a:rPr>
                  <a:t> is</a:t>
                </a:r>
                <a:r>
                  <a:rPr sz="2000" b="1" i="0">
                    <a:solidFill>
                      <a:srgbClr val="B4550D"/>
                    </a:solidFill>
                    <a:latin typeface="Calibri" panose="020F0502020204030204" charset="0"/>
                    <a:cs typeface="Calibri" panose="020F0502020204030204" charset="0"/>
                  </a:rPr>
                  <a:t>: </a:t>
                </a:r>
                <a:r>
                  <a:rPr sz="2000" b="0" i="0">
                    <a:solidFill>
                      <a:srgbClr val="262626"/>
                    </a:solidFill>
                    <a:latin typeface="Calibri" panose="020F0502020204030204" charset="0"/>
                    <a:cs typeface="Calibri" panose="020F0502020204030204" charset="0"/>
                  </a:rPr>
                  <a:t>how fast does the slim-majority failure probability decay?</a:t>
                </a:r>
                <a:endParaRPr sz="2000" b="0" i="0">
                  <a:solidFill>
                    <a:srgbClr val="262626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610995"/>
                <a:ext cx="10241280" cy="6921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640080" y="531368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79720"/>
            <a:ext cx="103327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Calibri" panose="020F0502020204030204"/>
              </a:rPr>
              <a:t>Why N first? </a:t>
            </a:r>
            <a:r>
              <a:rPr lang="en-US" altLang="zh-CN" i="0">
                <a:solidFill>
                  <a:srgbClr val="FFFFFF"/>
                </a:solidFill>
                <a:latin typeface="Calibri" panose="020F0502020204030204"/>
              </a:rPr>
              <a:t>Verification inspects the pool that was generated. With too few candidates, the right answer may never be in it.</a:t>
            </a:r>
            <a:endParaRPr lang="en-US" altLang="zh-CN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文本框 21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6 /20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MODEL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The Chernoff Bound: When Voting Is Guaranteed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572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60120" y="1572768"/>
                <a:ext cx="10241280" cy="436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If the single-candidate accuracy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, the vote-failure probability decays exponentially:</a:t>
                </a:r>
                <a:endParaRPr sz="20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572768"/>
                <a:ext cx="10241280" cy="436880"/>
              </a:xfrm>
              <a:prstGeom prst="rect">
                <a:avLst/>
              </a:prstGeom>
              <a:blipFill rotWithShape="1">
                <a:blip r:embed="rId1"/>
                <a:stretch>
                  <a:fillRect t="-116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60120" y="2240280"/>
                <a:ext cx="10241280" cy="5264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𝑷</m:t>
                    </m:r>
                    <m:r>
                      <a:rPr lang="en-US" sz="24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sz="24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𝒗𝒐𝒕𝒆</m:t>
                    </m:r>
                    <m:r>
                      <a:rPr lang="en-US" sz="24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sz="24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𝒇𝒂𝒊𝒍𝒔</m:t>
                    </m:r>
                    <m:r>
                      <a:rPr lang="en-US" sz="24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)≤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  <m:r>
                          <a:rPr lang="en-US" sz="24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⋅</m:t>
                        </m:r>
                        <m:r>
                          <a:rPr lang="en-US" sz="24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𝑫</m:t>
                        </m:r>
                      </m:sup>
                    </m:sSup>
                    <m:r>
                      <a:rPr lang="en-US" sz="24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en-US" sz="2400" b="0" i="1">
                    <a:solidFill>
                      <a:srgbClr val="595959"/>
                    </a:solidFill>
                    <a:latin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sz="2400" b="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sz="2400" b="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𝐾𝐿</m:t>
                    </m:r>
                    <m:r>
                      <a:rPr lang="en-US" sz="2400" b="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595959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rgbClr val="595959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>
                            <a:solidFill>
                              <a:srgbClr val="595959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∥</m:t>
                    </m:r>
                    <m:r>
                      <a:rPr lang="en-US" sz="240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sz="2400" b="0" i="1">
                        <a:solidFill>
                          <a:srgbClr val="595959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sz="2400" b="0" i="1">
                  <a:solidFill>
                    <a:srgbClr val="595959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240280"/>
                <a:ext cx="10241280" cy="5264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640080" y="3231515"/>
            <a:ext cx="5120640" cy="1797685"/>
          </a:xfrm>
          <a:prstGeom prst="roundRect">
            <a:avLst>
              <a:gd name="adj" fmla="val 7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14400" y="3406140"/>
                <a:ext cx="4572000" cy="143573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sz="1600" b="1" i="0">
                    <a:solidFill>
                      <a:srgbClr val="1F3864"/>
                    </a:solidFill>
                    <a:latin typeface="Calibri" panose="020F0502020204030204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sz="16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sz="1600" b="1" i="0">
                    <a:solidFill>
                      <a:srgbClr val="1F3864"/>
                    </a:solidFill>
                    <a:latin typeface="Calibri" panose="020F0502020204030204"/>
                  </a:rPr>
                  <a:t> is real:</a:t>
                </a:r>
                <a:endParaRPr sz="1600" b="1" i="0">
                  <a:solidFill>
                    <a:srgbClr val="1F3864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5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mbria Math" panose="02040503050406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sz="1600" b="0" i="0">
                    <a:solidFill>
                      <a:srgbClr val="262626"/>
                    </a:solidFill>
                    <a:latin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mbria Math" panose="02040503050406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sz="1600" b="0" i="0">
                    <a:solidFill>
                      <a:srgbClr val="262626"/>
                    </a:solidFill>
                    <a:latin typeface="Cambria Math" panose="02040503050406030204"/>
                  </a:rPr>
                  <a:t> </a:t>
                </a:r>
                <a:r>
                  <a:rPr sz="1600" b="1" i="0">
                    <a:solidFill>
                      <a:srgbClr val="B4550D"/>
                    </a:solidFill>
                    <a:latin typeface="Calibri" panose="020F0502020204030204"/>
                  </a:rPr>
                  <a:t>no exponential guarantee exists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; the Chernoff premise fails.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1">
                    <a:solidFill>
                      <a:srgbClr val="262626"/>
                    </a:solidFill>
                    <a:latin typeface="Calibri" panose="020F0502020204030204"/>
                  </a:rPr>
                  <a:t>This is a mathematical guarantee—no training, no labeling.</a:t>
                </a:r>
                <a:endParaRPr sz="1600" b="0" i="1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914400" y="3406140"/>
                <a:ext cx="4572000" cy="143573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6355080" y="3224530"/>
            <a:ext cx="5166360" cy="1804670"/>
          </a:xfrm>
          <a:prstGeom prst="roundRect">
            <a:avLst>
              <a:gd name="adj" fmla="val 70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536055" y="3311525"/>
                <a:ext cx="4815205" cy="162369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en-US" altLang="zh-CN" sz="1600" b="1">
                    <a:solidFill>
                      <a:schemeClr val="tx1"/>
                    </a:solidFill>
                    <a:latin typeface="Calibri" panose="020F0502020204030204"/>
                  </a:rPr>
                  <a:t>Take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𝟎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𝟔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𝑵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𝟓𝟎</m:t>
                    </m:r>
                  </m:oMath>
                </a14:m>
                <a:r>
                  <a:rPr lang="en-US" altLang="zh-CN" sz="1600" b="1">
                    <a:solidFill>
                      <a:schemeClr val="tx1"/>
                    </a:solidFill>
                    <a:latin typeface="Calibri" panose="020F0502020204030204"/>
                  </a:rPr>
                  <a:t> as example. </a:t>
                </a:r>
                <a:endParaRPr lang="en-US" altLang="zh-CN" sz="1600" b="1">
                  <a:solidFill>
                    <a:schemeClr val="tx1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en-US" altLang="zh-CN" sz="1600" b="0">
                    <a:solidFill>
                      <a:srgbClr val="262626"/>
                    </a:solidFill>
                    <a:latin typeface="Calibri" panose="020F0502020204030204"/>
                  </a:rPr>
                  <a:t>The formula promises: </a:t>
                </a:r>
                <a14:m>
                  <m:oMath xmlns:m="http://schemas.openxmlformats.org/officeDocument/2006/math">
                    <m:r>
                      <a:rPr lang="en-US" altLang="zh-CN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𝑣𝑜𝑡𝑒</m:t>
                    </m:r>
                    <m:r>
                      <a:rPr lang="en-US" altLang="zh-CN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𝑓𝑎𝑖𝑙𝑠</m:t>
                    </m:r>
                    <m:r>
                      <a:rPr lang="en-US" altLang="zh-CN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37</m:t>
                    </m:r>
                  </m:oMath>
                </a14:m>
                <a:r>
                  <a:rPr lang="en-US" altLang="zh-CN" sz="1600" b="0">
                    <a:solidFill>
                      <a:srgbClr val="262626"/>
                    </a:solidFill>
                    <a:latin typeface="Calibri" panose="020F0502020204030204"/>
                  </a:rPr>
                  <a:t>. Count exactly instead—ties count as failure—and the true rate is 0.098, </a:t>
                </a:r>
                <a:r>
                  <a:rPr sz="1600" b="1">
                    <a:solidFill>
                      <a:srgbClr val="B4550D"/>
                    </a:solidFill>
                    <a:latin typeface="Calibri" panose="020F0502020204030204"/>
                  </a:rPr>
                  <a:t>about </a:t>
                </a:r>
                <a14:m>
                  <m:oMath xmlns:m="http://schemas.openxmlformats.org/officeDocument/2006/math">
                    <m:r>
                      <a:rPr sz="1600" b="1">
                        <a:solidFill>
                          <a:srgbClr val="B4550D"/>
                        </a:solidFill>
                        <a:latin typeface="Calibri" panose="020F0502020204030204"/>
                      </a:rPr>
                      <m:t>4</m:t>
                    </m:r>
                    <m:r>
                      <a:rPr sz="1600" b="1">
                        <a:solidFill>
                          <a:srgbClr val="B4550D"/>
                        </a:solidFill>
                        <a:latin typeface="Calibri" panose="020F0502020204030204"/>
                      </a:rPr>
                      <m:t>×</m:t>
                    </m:r>
                  </m:oMath>
                </a14:m>
                <a:r>
                  <a:rPr sz="1600" b="1">
                    <a:solidFill>
                      <a:srgbClr val="B4550D"/>
                    </a:solidFill>
                    <a:latin typeface="Calibri" panose="020F0502020204030204"/>
                  </a:rPr>
                  <a:t> lower.</a:t>
                </a:r>
                <a:r>
                  <a:rPr lang="en-US" altLang="zh-CN" sz="1600" b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endParaRPr lang="en-US" altLang="zh-CN" sz="1600" b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en-US" altLang="zh-CN" sz="1600" b="0" i="1">
                    <a:solidFill>
                      <a:srgbClr val="262626"/>
                    </a:solidFill>
                    <a:latin typeface="Calibri" panose="020F0502020204030204"/>
                  </a:rPr>
                  <a:t>A bound is a safe promise, not a forecast: it shows the exponential trend, not the exact value.</a:t>
                </a:r>
                <a:endParaRPr lang="en-US" altLang="zh-CN" sz="1600" b="0" i="1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6536055" y="3311525"/>
                <a:ext cx="4815205" cy="1623695"/>
              </a:xfrm>
              <a:prstGeom prst="rect">
                <a:avLst/>
              </a:prstGeom>
              <a:blipFill rotWithShape="1">
                <a:blip r:embed="rId10"/>
                <a:stretch>
                  <a:fillRect t="-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960120" y="5271135"/>
                <a:ext cx="10332720" cy="6699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i="0">
                    <a:solidFill>
                      <a:srgbClr val="FFFFFF"/>
                    </a:solidFill>
                    <a:latin typeface="Calibri" panose="020F0502020204030204"/>
                  </a:rPr>
                  <a:t>When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b="1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b="1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b="1" i="0">
                    <a:solidFill>
                      <a:srgbClr val="FFFFFF"/>
                    </a:solidFill>
                    <a:latin typeface="Calibri" panose="020F0502020204030204"/>
                  </a:rPr>
                  <a:t>, voting has no p-only guarantee</a:t>
                </a:r>
                <a:r>
                  <a:rPr lang="en-US" b="1" i="0">
                    <a:solidFill>
                      <a:srgbClr val="FFFFFF"/>
                    </a:solidFill>
                    <a:latin typeface="Calibri" panose="020F0502020204030204"/>
                  </a:rPr>
                  <a:t>: 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its real effect depends on error spread. Experiment 3 </a:t>
                </a:r>
                <a:r>
                  <a:rPr lang="en-US" b="0" i="0">
                    <a:solidFill>
                      <a:srgbClr val="FFFFFF"/>
                    </a:solidFill>
                    <a:latin typeface="Calibri" panose="020F0502020204030204"/>
                  </a:rPr>
                  <a:t>will 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test this</a:t>
                </a:r>
                <a:r>
                  <a:rPr lang="en-US" b="0" i="0">
                    <a:solidFill>
                      <a:srgbClr val="FFFFFF"/>
                    </a:solidFill>
                    <a:latin typeface="Calibri" panose="020F0502020204030204"/>
                  </a:rPr>
                  <a:t> conclusion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.</a:t>
                </a:r>
                <a:endParaRPr b="0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5271135"/>
                <a:ext cx="10332720" cy="66992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本框 16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7 /20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MODEL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95985" y="578485"/>
                <a:ext cx="10961370" cy="6756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i="0">
                    <a:solidFill>
                      <a:srgbClr val="1F3864"/>
                    </a:solidFill>
                    <a:latin typeface="Segoe UI" panose="020B0502040204020203"/>
                  </a:rPr>
                  <a:t>When</a:t>
                </a:r>
                <a:r>
                  <a:rPr sz="2800" b="1" i="0">
                    <a:solidFill>
                      <a:srgbClr val="1F3864"/>
                    </a:solidFill>
                    <a:latin typeface="Segoe UI" panose="020B0502040204020203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sz="28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sz="28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sz="2800" b="1" i="0">
                    <a:solidFill>
                      <a:srgbClr val="1F3864"/>
                    </a:solidFill>
                    <a:latin typeface="Segoe UI" panose="020B0502040204020203"/>
                  </a:rPr>
                  <a:t>: Voting Has No Guarantee</a:t>
                </a:r>
                <a:r>
                  <a:rPr lang="en-US" sz="2800" b="1" i="0">
                    <a:solidFill>
                      <a:srgbClr val="1F3864"/>
                    </a:solidFill>
                    <a:latin typeface="Segoe UI" panose="020B0502040204020203"/>
                  </a:rPr>
                  <a:t>, </a:t>
                </a:r>
                <a:r>
                  <a:rPr lang="en-US" altLang="zh-CN" sz="2800" b="1" i="0">
                    <a:solidFill>
                      <a:srgbClr val="1F3864"/>
                    </a:solidFill>
                    <a:latin typeface="Segoe UI" panose="020B0502040204020203"/>
                  </a:rPr>
                  <a:t>Verification Has a Ceiling</a:t>
                </a:r>
                <a:endParaRPr lang="en-US" altLang="zh-CN" sz="2800" b="1" i="0">
                  <a:solidFill>
                    <a:srgbClr val="1F3864"/>
                  </a:solidFill>
                  <a:latin typeface="Segoe UI" panose="020B0502040204020203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85" y="578485"/>
                <a:ext cx="10961370" cy="67564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640080" y="1417320"/>
            <a:ext cx="5120640" cy="3714115"/>
          </a:xfrm>
          <a:prstGeom prst="roundRect">
            <a:avLst>
              <a:gd name="adj" fmla="val 5000"/>
            </a:avLst>
          </a:prstGeom>
          <a:noFill/>
          <a:ln w="1524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60120" y="1482090"/>
                <a:ext cx="4572000" cy="436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sz="20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solidFill>
                              <a:srgbClr val="1F3864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sz="2000" b="1" i="0">
                    <a:solidFill>
                      <a:srgbClr val="1F3864"/>
                    </a:solidFill>
                    <a:latin typeface="Calibri" panose="020F0502020204030204"/>
                  </a:rPr>
                  <a:t>: two mechanisms decide</a:t>
                </a:r>
                <a:endParaRPr sz="2000" b="1" i="0">
                  <a:solidFill>
                    <a:srgbClr val="1F3864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482090"/>
                <a:ext cx="4572000" cy="436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60120" y="2098040"/>
                <a:ext cx="4572000" cy="16567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sz="1600" b="1" i="0">
                    <a:solidFill>
                      <a:srgbClr val="262626"/>
                    </a:solidFill>
                    <a:latin typeface="Calibri" panose="020F0502020204030204"/>
                  </a:rPr>
                  <a:t>① Binomial fact (no spread needed):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counting ties as failure,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f>
                      <m:f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makes voting worse than one sample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3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3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21.6% vs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.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30%.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262626"/>
                    </a:solidFill>
                    <a:latin typeface="Calibri" panose="020F0502020204030204"/>
                  </a:rPr>
                  <a:t>② Error spread: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concentrated errors </a:t>
                </a:r>
                <a:r>
                  <a:rPr sz="1600" b="0" i="0">
                    <a:solidFill>
                      <a:srgbClr val="26262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the vote picks a shared wrong answer; spread errors </a:t>
                </a:r>
                <a:r>
                  <a:rPr sz="1600" b="0" i="0">
                    <a:solidFill>
                      <a:srgbClr val="26262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ties, decided by the tie rule.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098040"/>
                <a:ext cx="4572000" cy="1656715"/>
              </a:xfrm>
              <a:prstGeom prst="rect">
                <a:avLst/>
              </a:prstGeom>
              <a:blipFill rotWithShape="1">
                <a:blip r:embed="rId3"/>
                <a:stretch>
                  <a:fillRect t="-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891540" y="3933825"/>
            <a:ext cx="4640580" cy="971550"/>
            <a:chOff x="1505" y="5525"/>
            <a:chExt cx="7308" cy="1530"/>
          </a:xfrm>
        </p:grpSpPr>
        <p:sp>
          <p:nvSpPr>
            <p:cNvPr id="9" name="Rounded Rectangle 8"/>
            <p:cNvSpPr/>
            <p:nvPr/>
          </p:nvSpPr>
          <p:spPr>
            <a:xfrm>
              <a:off x="1505" y="5525"/>
              <a:ext cx="7308" cy="153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88" y="5710"/>
              <a:ext cx="6449" cy="11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1F3864"/>
                  </a:solidFill>
                  <a:latin typeface="Calibri" panose="020F0502020204030204"/>
                </a:rPr>
                <a:t>Measured: Qwen3-0.6B (p = 0.4</a:t>
              </a:r>
              <a:r>
                <a:rPr lang="en-US" sz="1600" b="0" i="0">
                  <a:solidFill>
                    <a:srgbClr val="1F3864"/>
                  </a:solidFill>
                  <a:latin typeface="Calibri" panose="020F0502020204030204"/>
                </a:rPr>
                <a:t>6</a:t>
              </a:r>
              <a:r>
                <a:rPr sz="1600" b="0" i="0">
                  <a:solidFill>
                    <a:srgbClr val="1F3864"/>
                  </a:solidFill>
                  <a:latin typeface="Calibri" panose="020F0502020204030204"/>
                </a:rPr>
                <a:t>) majority vote at N = 10 reaches 0.</a:t>
              </a:r>
              <a:r>
                <a:rPr lang="en-US" sz="1600" b="0" i="0">
                  <a:solidFill>
                    <a:srgbClr val="1F3864"/>
                  </a:solidFill>
                  <a:latin typeface="Calibri" panose="020F0502020204030204"/>
                </a:rPr>
                <a:t>57</a:t>
              </a:r>
              <a:r>
                <a:rPr sz="1600" i="0">
                  <a:solidFill>
                    <a:srgbClr val="1F3864"/>
                  </a:solidFill>
                  <a:latin typeface="Calibri" panose="020F0502020204030204"/>
                </a:rPr>
                <a:t>, </a:t>
              </a:r>
              <a:r>
                <a:rPr sz="1600" b="1" i="0">
                  <a:solidFill>
                    <a:srgbClr val="1F3864"/>
                  </a:solidFill>
                  <a:latin typeface="Calibri" panose="020F0502020204030204"/>
                </a:rPr>
                <a:t>above its own single-candidate 0.4</a:t>
              </a:r>
              <a:r>
                <a:rPr lang="en-US" sz="1600" b="1" i="0">
                  <a:solidFill>
                    <a:srgbClr val="1F3864"/>
                  </a:solidFill>
                  <a:latin typeface="Calibri" panose="020F0502020204030204"/>
                </a:rPr>
                <a:t>6</a:t>
              </a:r>
              <a:r>
                <a:rPr sz="1600" b="1" i="0">
                  <a:solidFill>
                    <a:srgbClr val="1F3864"/>
                  </a:solidFill>
                  <a:latin typeface="Calibri" panose="020F0502020204030204"/>
                </a:rPr>
                <a:t>.</a:t>
              </a:r>
              <a:endParaRPr sz="1600" b="1" i="0">
                <a:solidFill>
                  <a:srgbClr val="1F3864"/>
                </a:solidFill>
                <a:latin typeface="Calibri" panose="020F0502020204030204"/>
              </a:endParaRP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6355080" y="1417320"/>
            <a:ext cx="5166360" cy="3709670"/>
          </a:xfrm>
          <a:prstGeom prst="roundRect">
            <a:avLst>
              <a:gd name="adj" fmla="val 5000"/>
            </a:avLst>
          </a:prstGeom>
          <a:noFill/>
          <a:ln w="1524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4550D"/>
                </a:solidFill>
                <a:latin typeface="Calibri" panose="020F0502020204030204"/>
              </a:rPr>
              <a:t>Verification: the verifier has errors too</a:t>
            </a:r>
            <a:endParaRPr sz="1450" b="1" i="0">
              <a:solidFill>
                <a:srgbClr val="B4550D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675120" y="1920240"/>
                <a:ext cx="4572000" cy="18770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= false-positive rate (wrong answer called right);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= false-negative (right answer called wrong).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Asking the same biased verifier M times does not improve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: </a:t>
                </a:r>
                <a:r>
                  <a:rPr sz="1600" b="1" i="0">
                    <a:solidFill>
                      <a:srgbClr val="B4550D"/>
                    </a:solidFill>
                    <a:latin typeface="Calibri" panose="020F0502020204030204"/>
                  </a:rPr>
                  <a:t>the ceiling is set by verifier quality, not by M.</a:t>
                </a:r>
                <a:endParaRPr sz="1600" b="1" i="0">
                  <a:solidFill>
                    <a:srgbClr val="B4550D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B4550D"/>
                    </a:solidFill>
                    <a:latin typeface="Calibri" panose="020F0502020204030204"/>
                  </a:rPr>
                  <a:t>LLM self-scoring is a weak verifier: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measured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lang="en-US" altLang="zh-CN" sz="1600" b="0" i="0">
                    <a:solidFill>
                      <a:srgbClr val="262626"/>
                    </a:solidFill>
                    <a:latin typeface="Calibri" panose="020F0502020204030204"/>
                  </a:rPr>
                  <a:t>on Qwen3-0.6B self-scoring: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62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37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0" y="1920240"/>
                <a:ext cx="4572000" cy="1877060"/>
              </a:xfrm>
              <a:prstGeom prst="rect">
                <a:avLst/>
              </a:prstGeom>
              <a:blipFill rotWithShape="1">
                <a:blip r:embed="rId4"/>
                <a:stretch>
                  <a:fillRect t="-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675120" y="3934460"/>
            <a:ext cx="4538345" cy="971550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 w="152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0845" y="4051300"/>
            <a:ext cx="4400550" cy="73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Design note: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re-asking the same judge M times averages out its noise; it cannot fix its bias. 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Improving α, β needs a better judge, not more passes.</a:t>
            </a:r>
            <a:endParaRPr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40512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960120" y="5405755"/>
                <a:ext cx="10332720" cy="690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i="0">
                    <a:solidFill>
                      <a:srgbClr val="FFFFFF"/>
                    </a:solidFill>
                    <a:latin typeface="Calibri" panose="020F0502020204030204"/>
                  </a:rPr>
                  <a:t>Model gives conditions; measurements give answers. 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Both regimes (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f>
                      <m:f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) show up in the real data </a:t>
                </a:r>
                <a:r>
                  <a:rPr lang="en-US" b="0" i="0">
                    <a:solidFill>
                      <a:srgbClr val="FFFFFF"/>
                    </a:solidFill>
                    <a:latin typeface="Calibri" panose="020F0502020204030204"/>
                  </a:rPr>
                  <a:t>in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 the </a:t>
                </a:r>
                <a:r>
                  <a:rPr lang="en-US" b="0" i="0">
                    <a:solidFill>
                      <a:srgbClr val="FFFFFF"/>
                    </a:solidFill>
                    <a:latin typeface="Calibri" panose="020F0502020204030204"/>
                  </a:rPr>
                  <a:t>f</a:t>
                </a:r>
                <a:r>
                  <a:rPr lang="en-US" altLang="zh-CN" b="0" i="0">
                    <a:solidFill>
                      <a:srgbClr val="FFFFFF"/>
                    </a:solidFill>
                    <a:latin typeface="Calibri" panose="020F0502020204030204"/>
                  </a:rPr>
                  <a:t>urther explanation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.</a:t>
                </a:r>
                <a:endParaRPr b="0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5405755"/>
                <a:ext cx="10332720" cy="6908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文本框 22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8 /20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EVIDENCE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Worked Example: The Headline Table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651760"/>
                <a:gridCol w="1554480"/>
                <a:gridCol w="201168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Strategy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Allocation (N, M)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Accuracy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95% CI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vs search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Search (majority vote)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50 candidates, 0 checks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0.85</a:t>
                      </a:r>
                      <a:r>
                        <a:rPr lang="en-US"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95% CI [0.81, 0.89]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▲ best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Search + light verify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25 candidates, 1 check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0.7</a:t>
                      </a:r>
                      <a:r>
                        <a:rPr lang="en-US"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17</a:t>
                      </a:r>
                      <a:endParaRPr lang="en-US"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95% CI 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[0.67, 0.77]</a:t>
                      </a:r>
                      <a:endParaRPr lang="en-US" altLang="zh-CN"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−13.6 pp</a:t>
                      </a:r>
                      <a:endParaRPr lang="en-US" altLang="zh-CN"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Verify (score selection)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5 candidates, 9 checks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0.7</a:t>
                      </a:r>
                      <a:r>
                        <a:rPr lang="en-US"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53</a:t>
                      </a:r>
                      <a:endParaRPr lang="en-US"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95% CI 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[0.70, 0.80]</a:t>
                      </a:r>
                      <a:endParaRPr lang="en-US" altLang="zh-CN"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−10.0 pp</a:t>
                      </a:r>
                      <a:endParaRPr lang="en-US" altLang="zh-CN"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709160"/>
            <a:ext cx="10881360" cy="17170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73930"/>
            <a:ext cx="10241280" cy="1579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1. </a:t>
            </a: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Search beats pure verification by +</a:t>
            </a:r>
            <a:r>
              <a:rPr lang="en-US" sz="1600" b="1" i="0">
                <a:solidFill>
                  <a:srgbClr val="1F3864"/>
                </a:solidFill>
                <a:latin typeface="Calibri" panose="020F0502020204030204"/>
              </a:rPr>
              <a:t>10.0</a:t>
            </a: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 pp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, 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not because judging is bad, but because 5 candidates rarely contain the right answer.</a:t>
            </a:r>
            <a:endParaRPr sz="16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2.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Search + light verify (0.717) lands near pure verification: one check on 25 candidates does not make up for losing 25 candidates, and 9 checks beat 1.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3. </a:t>
            </a: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The conclusion is limited to this configuration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weak self-verifier, B = 50, and the same MATH-500 subset. Results can shift with the configuration.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35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6"/>
          <p:cNvSpPr txBox="1"/>
          <p:nvPr/>
        </p:nvSpPr>
        <p:spPr>
          <a:xfrm>
            <a:off x="640080" y="3436493"/>
            <a:ext cx="10881360" cy="1192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1">
                <a:solidFill>
                  <a:srgbClr val="595959"/>
                </a:solidFill>
                <a:latin typeface="Calibri" panose="020F0502020204030204"/>
              </a:rPr>
              <a:t>Qwen3-4B · 100-problem MATH-500 subset · budget B = 50 calls per problem</a:t>
            </a:r>
            <a:endParaRPr sz="1400" b="0" i="1">
              <a:solidFill>
                <a:srgbClr val="595959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Each accuracy is the mean of 3 independent runs (seeds): 0.85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3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 = 25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6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 correct answers out of 300.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The brackets are 95% confidence intervals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 (95% CI):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the plausible range of the true accuracy.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All three rows spend the same budget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,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only the split changes: 50 candidates, or 5 candidates × 9 checks.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400" b="0" i="0">
                <a:solidFill>
                  <a:srgbClr val="262626"/>
                </a:solidFill>
                <a:latin typeface="Calibri" panose="020F0502020204030204"/>
              </a:rPr>
              <a:t>You will reproduce this table with your own model in Experiment 1.</a:t>
            </a:r>
            <a:endParaRPr lang="en-US" altLang="zh-CN" sz="14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9 /20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EVIDENCE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1060704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i="0">
                <a:solidFill>
                  <a:srgbClr val="1F3864"/>
                </a:solidFill>
                <a:latin typeface="Segoe UI" panose="020B0502040204020203"/>
              </a:rPr>
              <a:t>Search Wins Across Three Models</a:t>
            </a:r>
            <a:endParaRPr lang="en-US" altLang="zh-CN"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40080" y="1554480"/>
              <a:ext cx="1088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7440"/>
                    <a:gridCol w="1097280"/>
                    <a:gridCol w="2194560"/>
                    <a:gridCol w="1828800"/>
                    <a:gridCol w="2103120"/>
                    <a:gridCol w="1280160"/>
                  </a:tblGrid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Model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p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regime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Search (N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50)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Verify (N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5, M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9)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1" i="1">
                                    <a:solidFill>
                                      <a:srgbClr val="FFFFFF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Qwen3-4B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0.7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guaranteed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0.85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0.7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+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10.0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pp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Gemma-3-4B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61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guarantee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d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0.74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0.6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50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+9.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pp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Gemma-3-1B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37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no guarantee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0.4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73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400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+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7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.3 pp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40080" y="1554480"/>
              <a:ext cx="1088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7440"/>
                    <a:gridCol w="1097280"/>
                    <a:gridCol w="2194560"/>
                    <a:gridCol w="1828800"/>
                    <a:gridCol w="2103120"/>
                    <a:gridCol w="1280160"/>
                  </a:tblGrid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Model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p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regime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Search (N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50)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Verify (N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5, M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9)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1"/>
                        </a:blip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Qwen3-4B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0.7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guaranteed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0.85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0.7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+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10.0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pp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Gemma-3-4B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61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guarantee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d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0.74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0.6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50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+9.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pp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Gemma-3-1B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37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no guarantee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0.4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73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0.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400</a:t>
                          </a:r>
                          <a:endParaRPr lang="en-US"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+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7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.3 pp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Rounded Rectangle 7"/>
          <p:cNvSpPr/>
          <p:nvPr/>
        </p:nvSpPr>
        <p:spPr>
          <a:xfrm>
            <a:off x="640080" y="4297680"/>
            <a:ext cx="51206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95985" y="4434840"/>
                <a:ext cx="4572000" cy="14998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1600" b="1" i="0">
                    <a:solidFill>
                      <a:srgbClr val="2E75B6"/>
                    </a:solidFill>
                    <a:latin typeface="Calibri" panose="020F0502020204030204"/>
                  </a:rPr>
                  <a:t>Guaranteed regime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sz="1600" b="1" i="1">
                        <a:solidFill>
                          <a:srgbClr val="2E75B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2E75B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sz="1600" b="1" i="0">
                    <a:solidFill>
                      <a:srgbClr val="2E75B6"/>
                    </a:solidFill>
                    <a:latin typeface="Calibri" panose="020F0502020204030204"/>
                  </a:rPr>
                  <a:t>):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Qwen3-4B wins as the Chernoff bound predicts.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B4550D"/>
                    </a:solidFill>
                    <a:latin typeface="Calibri" panose="020F0502020204030204"/>
                  </a:rPr>
                  <a:t>No-guarantee regime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sz="1600" b="1" i="1">
                        <a:solidFill>
                          <a:srgbClr val="B4550D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B4550D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B4550D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B4550D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sz="1600" b="1" i="0">
                    <a:solidFill>
                      <a:srgbClr val="B4550D"/>
                    </a:solidFill>
                    <a:latin typeface="Calibri" panose="020F0502020204030204"/>
                  </a:rPr>
                  <a:t>):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Gemma-3-1B and Gemma-3-4B still win—spread errors make voting work in practice.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85" y="4434840"/>
                <a:ext cx="4572000" cy="14998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355080" y="4297680"/>
            <a:ext cx="516636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434840"/>
            <a:ext cx="4572000" cy="1541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chemeClr val="accent6"/>
                </a:solidFill>
                <a:latin typeface="Calibri" panose="020F0502020204030204"/>
              </a:rPr>
              <a:t>Tie rates at N</a:t>
            </a:r>
            <a:r>
              <a:rPr lang="en-US" sz="1600" b="1" i="0">
                <a:solidFill>
                  <a:schemeClr val="accent6"/>
                </a:solidFill>
                <a:latin typeface="Calibri" panose="020F0502020204030204"/>
              </a:rPr>
              <a:t> </a:t>
            </a:r>
            <a:r>
              <a:rPr sz="1600" b="1" i="0">
                <a:solidFill>
                  <a:schemeClr val="accent6"/>
                </a:solidFill>
                <a:latin typeface="Calibri" panose="020F0502020204030204"/>
              </a:rPr>
              <a:t>=</a:t>
            </a:r>
            <a:r>
              <a:rPr lang="en-US" sz="1600" b="1" i="0">
                <a:solidFill>
                  <a:schemeClr val="accent6"/>
                </a:solidFill>
                <a:latin typeface="Calibri" panose="020F0502020204030204"/>
              </a:rPr>
              <a:t> </a:t>
            </a:r>
            <a:r>
              <a:rPr sz="1600" b="1" i="0">
                <a:solidFill>
                  <a:schemeClr val="accent6"/>
                </a:solidFill>
                <a:latin typeface="Calibri" panose="020F0502020204030204"/>
              </a:rPr>
              <a:t>50:</a:t>
            </a:r>
            <a:r>
              <a:rPr sz="1600" b="1" i="0">
                <a:solidFill>
                  <a:srgbClr val="2BB673"/>
                </a:solidFill>
                <a:latin typeface="Calibri" panose="020F0502020204030204"/>
              </a:rPr>
              <a:t> 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2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.3% / 1.7% / 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3.7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% (Qwen3-4B / Gemma-3-4B / Gemma-3-1B)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.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T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he lowest-p model ties most (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3.7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%); ties are decided by the vote rule, so voting keeps helping.</a:t>
            </a:r>
            <a:endParaRPr sz="16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This is the p-spectrum lesson you will reproduce in the notebook</a:t>
            </a:r>
            <a:r>
              <a:rPr lang="en-US" sz="1600" b="0" i="1">
                <a:solidFill>
                  <a:srgbClr val="595959"/>
                </a:solidFill>
                <a:latin typeface="Calibri" panose="020F0502020204030204"/>
              </a:rPr>
              <a:t> experiments</a:t>
            </a: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.</a:t>
            </a:r>
            <a:endParaRPr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35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6"/>
              <p:cNvSpPr txBox="1"/>
              <p:nvPr/>
            </p:nvSpPr>
            <p:spPr>
              <a:xfrm>
                <a:off x="640080" y="3564889"/>
                <a:ext cx="10881360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>
                    <a:solidFill>
                      <a:srgbClr val="595959"/>
                    </a:solidFill>
                    <a:latin typeface="Calibri" panose="020F0502020204030204"/>
                  </a:rPr>
                  <a:t>3 seeds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</m:oMath>
                </a14:m>
                <a:r>
                  <a:rPr sz="1200" b="0" i="1">
                    <a:solidFill>
                      <a:srgbClr val="595959"/>
                    </a:solidFill>
                    <a:latin typeface="Calibri" panose="020F0502020204030204"/>
                  </a:rPr>
                  <a:t> 100 problems; search wins on all 9 model–seed pairs (paired McNemar 9/9); 95% CIs exclude 0 everywhere;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sz="1200" b="0" i="1">
                    <a:solidFill>
                      <a:srgbClr val="595959"/>
                    </a:solidFill>
                    <a:latin typeface="Calibri" panose="020F0502020204030204"/>
                  </a:rPr>
                  <a:t> from unrounded values.</a:t>
                </a:r>
                <a:endParaRPr sz="1200" b="0" i="1">
                  <a:solidFill>
                    <a:srgbClr val="595959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3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3564889"/>
                <a:ext cx="10881360" cy="184150"/>
              </a:xfrm>
              <a:prstGeom prst="rect">
                <a:avLst/>
              </a:prstGeom>
              <a:blipFill rotWithShape="1">
                <a:blip r:embed="rId3"/>
                <a:stretch>
                  <a:fillRect t="-1379" b="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10 /20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EVIDENCE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27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Reading the Table: Why Search Wins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28" name="Rounded Rectangle 5"/>
          <p:cNvSpPr/>
          <p:nvPr/>
        </p:nvSpPr>
        <p:spPr>
          <a:xfrm>
            <a:off x="640080" y="1417320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6"/>
          <p:cNvSpPr txBox="1"/>
          <p:nvPr/>
        </p:nvSpPr>
        <p:spPr>
          <a:xfrm>
            <a:off x="960120" y="1554480"/>
            <a:ext cx="4572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0">
                <a:solidFill>
                  <a:srgbClr val="1F3864"/>
                </a:solidFill>
                <a:latin typeface="Calibri" panose="020F0502020204030204"/>
              </a:rPr>
              <a:t>The mechanism in brief</a:t>
            </a:r>
            <a:endParaRPr lang="en-US" altLang="zh-CN"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0" name="TextBox 7"/>
          <p:cNvSpPr txBox="1"/>
          <p:nvPr/>
        </p:nvSpPr>
        <p:spPr>
          <a:xfrm>
            <a:off x="895985" y="2103120"/>
            <a:ext cx="4572000" cy="272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b="0" i="0">
                <a:solidFill>
                  <a:srgbClr val="262626"/>
                </a:solidFill>
                <a:latin typeface="Calibri" panose="020F0502020204030204"/>
              </a:rPr>
              <a:t>Search raises N, so the right answer is more likely to be generated in the first place. 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b="0" i="0">
                <a:solidFill>
                  <a:srgbClr val="262626"/>
                </a:solidFill>
                <a:latin typeface="Calibri" panose="020F0502020204030204"/>
              </a:rPr>
              <a:t>Verification inspects a fixed pool</a:t>
            </a:r>
            <a:r>
              <a:rPr lang="en-US" b="0" i="0">
                <a:solidFill>
                  <a:srgbClr val="262626"/>
                </a:solidFill>
                <a:latin typeface="Calibri" panose="020F0502020204030204"/>
              </a:rPr>
              <a:t>.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lang="en-US" b="0" i="0">
                <a:solidFill>
                  <a:srgbClr val="262626"/>
                </a:solidFill>
                <a:latin typeface="Calibri" panose="020F0502020204030204"/>
              </a:rPr>
              <a:t>I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f the answer is not there, scoring it M times is wasted effort.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b="1" i="0">
                <a:solidFill>
                  <a:srgbClr val="1F3864"/>
                </a:solidFill>
                <a:latin typeface="Calibri" panose="020F0502020204030204"/>
              </a:rPr>
              <a:t>B = 50: 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generating 50 candidates beats generating 5 and </a:t>
            </a:r>
            <a:r>
              <a:rPr lang="en-US" b="0" i="0">
                <a:solidFill>
                  <a:srgbClr val="262626"/>
                </a:solidFill>
                <a:latin typeface="Calibri" panose="020F0502020204030204"/>
              </a:rPr>
              <a:t>judging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 them.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i="0">
                <a:solidFill>
                  <a:srgbClr val="B4550D"/>
                </a:solidFill>
                <a:latin typeface="Calibri" panose="020F0502020204030204"/>
              </a:rPr>
              <a:t>Score is secondary: 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what matters is whether the right answer was generated at all.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31" name="Rounded Rectangle 8"/>
          <p:cNvSpPr/>
          <p:nvPr/>
        </p:nvSpPr>
        <p:spPr>
          <a:xfrm>
            <a:off x="6355080" y="141732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9"/>
          <p:cNvSpPr txBox="1"/>
          <p:nvPr/>
        </p:nvSpPr>
        <p:spPr>
          <a:xfrm>
            <a:off x="6469380" y="1547495"/>
            <a:ext cx="4891405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4550D"/>
                </a:solidFill>
                <a:latin typeface="Calibri" panose="020F0502020204030204"/>
              </a:rPr>
              <a:t>The verifier barely separates right from wrong</a:t>
            </a:r>
            <a:endParaRPr sz="20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33" name="Rounded Rectangle 10"/>
          <p:cNvSpPr/>
          <p:nvPr/>
        </p:nvSpPr>
        <p:spPr>
          <a:xfrm>
            <a:off x="6675120" y="2103120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11"/>
          <p:cNvSpPr txBox="1"/>
          <p:nvPr/>
        </p:nvSpPr>
        <p:spPr>
          <a:xfrm>
            <a:off x="6903720" y="2140712"/>
            <a:ext cx="402336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Judge accuracy gap 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63.8% vs 62.2%</a:t>
            </a: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  (0.6B self · zero discrimination)</a:t>
            </a:r>
            <a:endParaRPr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35" name="Rounded Rectangle 12"/>
          <p:cNvSpPr/>
          <p:nvPr/>
        </p:nvSpPr>
        <p:spPr>
          <a:xfrm>
            <a:off x="6675120" y="2688336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13"/>
          <p:cNvSpPr txBox="1"/>
          <p:nvPr/>
        </p:nvSpPr>
        <p:spPr>
          <a:xfrm>
            <a:off x="6903720" y="2725928"/>
            <a:ext cx="402336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Selection gain 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0.753 vs baseline 0.766</a:t>
            </a: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  (Qwen3-4B · no gain)</a:t>
            </a:r>
            <a:endParaRPr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37" name="Rounded Rectangle 14"/>
          <p:cNvSpPr/>
          <p:nvPr/>
        </p:nvSpPr>
        <p:spPr>
          <a:xfrm>
            <a:off x="6675120" y="3273552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15"/>
              <p:cNvSpPr txBox="1"/>
              <p:nvPr/>
            </p:nvSpPr>
            <p:spPr>
              <a:xfrm>
                <a:off x="6903720" y="3311144"/>
                <a:ext cx="4023360" cy="492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1F3864"/>
                    </a:solidFill>
                    <a:latin typeface="Calibri" panose="020F0502020204030204"/>
                  </a:rPr>
                  <a:t>False positive rate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sz="1600" b="1" i="0">
                    <a:solidFill>
                      <a:srgbClr val="1F3864"/>
                    </a:solidFill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62</m:t>
                    </m:r>
                  </m:oMath>
                </a14:m>
                <a:r>
                  <a:rPr sz="1600" b="0" i="1">
                    <a:solidFill>
                      <a:srgbClr val="595959"/>
                    </a:solidFill>
                    <a:latin typeface="Calibri" panose="020F0502020204030204"/>
                  </a:rPr>
                  <a:t> (0.6B self · wrong called right)</a:t>
                </a:r>
                <a:endParaRPr sz="1600" b="0" i="1">
                  <a:solidFill>
                    <a:srgbClr val="595959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8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20" y="3311144"/>
                <a:ext cx="4023360" cy="492125"/>
              </a:xfrm>
              <a:prstGeom prst="rect">
                <a:avLst/>
              </a:prstGeom>
              <a:blipFill rotWithShape="1">
                <a:blip r:embed="rId1"/>
                <a:stretch>
                  <a:fillRect t="-568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ounded Rectangle 16"/>
          <p:cNvSpPr/>
          <p:nvPr/>
        </p:nvSpPr>
        <p:spPr>
          <a:xfrm>
            <a:off x="6675120" y="3858768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17"/>
              <p:cNvSpPr txBox="1"/>
              <p:nvPr/>
            </p:nvSpPr>
            <p:spPr>
              <a:xfrm>
                <a:off x="6903720" y="3896360"/>
                <a:ext cx="4023360" cy="492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1F3864"/>
                    </a:solidFill>
                    <a:latin typeface="Calibri" panose="020F0502020204030204"/>
                  </a:rPr>
                  <a:t>False negative rate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𝜷</m:t>
                    </m:r>
                  </m:oMath>
                </a14:m>
                <a:r>
                  <a:rPr lang="en-US" sz="1600" b="1" i="0">
                    <a:solidFill>
                      <a:srgbClr val="1F3864"/>
                    </a:solidFill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37</m:t>
                    </m:r>
                  </m:oMath>
                </a14:m>
                <a:r>
                  <a:rPr sz="1600" b="0" i="1">
                    <a:solidFill>
                      <a:srgbClr val="595959"/>
                    </a:solidFill>
                    <a:latin typeface="Calibri" panose="020F0502020204030204"/>
                  </a:rPr>
                  <a:t>  (0.6B self · right called wrong)</a:t>
                </a:r>
                <a:endParaRPr sz="1600" b="0" i="1">
                  <a:solidFill>
                    <a:srgbClr val="595959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0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20" y="3896360"/>
                <a:ext cx="4023360" cy="492125"/>
              </a:xfrm>
              <a:prstGeom prst="rect">
                <a:avLst/>
              </a:prstGeom>
              <a:blipFill rotWithShape="1">
                <a:blip r:embed="rId2"/>
                <a:stretch>
                  <a:fillRect t="-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18"/>
          <p:cNvSpPr/>
          <p:nvPr/>
        </p:nvSpPr>
        <p:spPr>
          <a:xfrm>
            <a:off x="6675120" y="4443984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9"/>
          <p:cNvSpPr txBox="1"/>
          <p:nvPr/>
        </p:nvSpPr>
        <p:spPr>
          <a:xfrm>
            <a:off x="6903720" y="4491101"/>
            <a:ext cx="402336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rgbClr val="1F3864"/>
                </a:solidFill>
                <a:latin typeface="Calibri" panose="020F0502020204030204"/>
              </a:rPr>
              <a:t>Mean scores</a:t>
            </a: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 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7.34 vs 6.97</a:t>
            </a: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  (Qwen3-4B · scores barely separate)</a:t>
            </a:r>
            <a:endParaRPr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43" name="Rounded Rectangle 20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21"/>
              <p:cNvSpPr txBox="1"/>
              <p:nvPr/>
            </p:nvSpPr>
            <p:spPr>
              <a:xfrm>
                <a:off x="960120" y="5421630"/>
                <a:ext cx="10332720" cy="5537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i="0">
                    <a:solidFill>
                      <a:srgbClr val="FFFFFF"/>
                    </a:solidFill>
                    <a:latin typeface="Calibri" panose="020F0502020204030204"/>
                  </a:rPr>
                  <a:t>With a weak verifier, “polish harder” fails</a:t>
                </a:r>
                <a:r>
                  <a:rPr lang="en-US" b="1" i="0">
                    <a:solidFill>
                      <a:srgbClr val="FFFFFF"/>
                    </a:solidFill>
                    <a:latin typeface="Calibri" panose="020F0502020204030204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62</m:t>
                    </m:r>
                  </m:oMath>
                </a14:m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 means most wrong answers are still called correct after M re-checks.</a:t>
                </a:r>
                <a:endParaRPr b="0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4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5421630"/>
                <a:ext cx="10332720" cy="553720"/>
              </a:xfrm>
              <a:prstGeom prst="rect">
                <a:avLst/>
              </a:prstGeom>
              <a:blipFill rotWithShape="1">
                <a:blip r:embed="rId3"/>
                <a:stretch>
                  <a:fillRect t="-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文本框 47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11 /20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COMPARE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Two Strategies at a Glance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40080" y="1554480"/>
              <a:ext cx="10881360" cy="3200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/>
                    <a:gridCol w="4389120"/>
                    <a:gridCol w="4389120"/>
                  </a:tblGrid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Dimension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Search (majority vote)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Verify (score selection)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What it does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generate many answers, pick the most frequent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judge each answer, pick the highest score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Why accuracy rises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more votes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more likely correct; all-wrong shrinks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the judge filters obvious mistakes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Main risk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all candidates share the same error → vote is useless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the judge is wrong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filtering is random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Failure probability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≈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𝑁</m:t>
                                  </m:r>
                                  <m: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⋅</m:t>
                                  </m:r>
                                  <m: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𝐷</m:t>
                                  </m:r>
                                </m:sup>
                              </m:sSup>
                            </m:oMath>
                          </a14:m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when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sz="160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solidFill>
                                        <a:srgbClr val="26262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set by verifier quality 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𝛼</m:t>
                              </m:r>
                              <m:r>
                                <a:rPr lang="en-US" sz="160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 </m:t>
                              </m:r>
                              <m:r>
                                <a:rPr lang="en-US" sz="160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)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Best when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mid budget (10–100 calls), diverse candidates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huge budget (100+) and a strong judge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Needs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nothing but statistics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a trained verifier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40080" y="1554480"/>
              <a:ext cx="10881360" cy="3200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/>
                    <a:gridCol w="4389120"/>
                    <a:gridCol w="4389120"/>
                  </a:tblGrid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Dimension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Search (majority vote)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Verify (score selection)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What it does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generate many answers, pick the most frequent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judge each answer, pick the highest score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Why accuracy rises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more votes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more likely correct; all-wrong shrinks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the judge filters obvious mistakes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Main risk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all candidates share the same error → vote is useless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the judge is wrong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filtering is random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Failure probability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1"/>
                        </a:blip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Best when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mid budget (10–100 calls), diverse candidates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huge budget (100+) and a strong judge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Needs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nothing but statistics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a trained verifier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DEEBF7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Rounded Rectangle 6"/>
          <p:cNvSpPr/>
          <p:nvPr/>
        </p:nvSpPr>
        <p:spPr>
          <a:xfrm>
            <a:off x="640080" y="543052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34990"/>
            <a:ext cx="10332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Search is strength in numbers; verification is hiring an expert. Hire the expert only when they are actually good.</a:t>
            </a:r>
            <a:endParaRPr lang="en-US" altLang="zh-CN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6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12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12 /20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COMPARE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25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The p-Spectrum: Six Models, One Rule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pic>
        <p:nvPicPr>
          <p:cNvPr id="26" name="Picture 5" descr="D:/NeurIPS2026_Edu_Track/assets/曲线族/fig_curves_family.pngfig_curves_family"/>
          <p:cNvPicPr>
            <a:picLocks noChangeAspect="1"/>
          </p:cNvPicPr>
          <p:nvPr/>
        </p:nvPicPr>
        <p:blipFill>
          <a:blip r:embed="rId1"/>
          <a:srcRect t="130" b="130"/>
          <a:stretch>
            <a:fillRect/>
          </a:stretch>
        </p:blipFill>
        <p:spPr>
          <a:xfrm>
            <a:off x="640080" y="1388745"/>
            <a:ext cx="5120640" cy="3427764"/>
          </a:xfrm>
          <a:prstGeom prst="rect">
            <a:avLst/>
          </a:prstGeom>
        </p:spPr>
      </p:pic>
      <p:sp>
        <p:nvSpPr>
          <p:cNvPr id="27" name="Rounded Rectangle 6"/>
          <p:cNvSpPr/>
          <p:nvPr/>
        </p:nvSpPr>
        <p:spPr>
          <a:xfrm>
            <a:off x="6297930" y="1554480"/>
            <a:ext cx="5223510" cy="34353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7"/>
              <p:cNvSpPr txBox="1"/>
              <p:nvPr/>
            </p:nvSpPr>
            <p:spPr>
              <a:xfrm>
                <a:off x="6535420" y="1620520"/>
                <a:ext cx="4757420" cy="325818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b="1" i="0">
                    <a:solidFill>
                      <a:srgbClr val="1F3864"/>
                    </a:solidFill>
                    <a:latin typeface="Calibri" panose="020F0502020204030204"/>
                  </a:rPr>
                  <a:t>Six models, p from </a:t>
                </a:r>
                <a:r>
                  <a:rPr lang="en-US" altLang="zh-CN" b="1" i="0">
                    <a:solidFill>
                      <a:srgbClr val="1F3864"/>
                    </a:solidFill>
                    <a:latin typeface="Calibri" panose="020F0502020204030204"/>
                  </a:rPr>
                  <a:t>0.37 to 0.73</a:t>
                </a:r>
                <a:endParaRPr lang="en-US" altLang="zh-CN" b="1" i="0">
                  <a:solidFill>
                    <a:srgbClr val="1F3864"/>
                  </a:solidFill>
                  <a:latin typeface="Calibri" panose="020F0502020204030204"/>
                </a:endParaRP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b="1" i="0">
                    <a:solidFill>
                      <a:srgbClr val="262626"/>
                    </a:solidFill>
                    <a:latin typeface="Calibri" panose="020F0502020204030204"/>
                  </a:rPr>
                  <a:t>Higher p </a:t>
                </a:r>
                <a:r>
                  <a:rPr b="1" i="0">
                    <a:solidFill>
                      <a:srgbClr val="26262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b="1" i="0">
                    <a:solidFill>
                      <a:srgbClr val="262626"/>
                    </a:solidFill>
                    <a:latin typeface="Calibri" panose="020F0502020204030204"/>
                  </a:rPr>
                  <a:t> higher curve in the guaranteed regime 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b="1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f>
                      <m:fPr>
                        <m:ctrlPr>
                          <a:rPr lang="en-US" b="1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rgbClr val="26262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b="1" i="0">
                    <a:solidFill>
                      <a:srgbClr val="262626"/>
                    </a:solidFill>
                    <a:latin typeface="Calibri" panose="020F0502020204030204"/>
                  </a:rPr>
                  <a:t>)</a:t>
                </a:r>
                <a:r>
                  <a:rPr lang="en-US" b="0" i="0">
                    <a:solidFill>
                      <a:srgbClr val="262626"/>
                    </a:solidFill>
                    <a:latin typeface="Calibri" panose="020F0502020204030204"/>
                  </a:rPr>
                  <a:t>: </a:t>
                </a:r>
                <a:r>
                  <a:rPr b="0" i="0">
                    <a:solidFill>
                      <a:srgbClr val="262626"/>
                    </a:solidFill>
                    <a:latin typeface="Calibri" panose="020F0502020204030204"/>
                  </a:rPr>
                  <a:t>voting scales where the math promises.</a:t>
                </a:r>
                <a:endParaRPr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b="1" i="0">
                    <a:solidFill>
                      <a:srgbClr val="B4550D"/>
                    </a:solidFill>
                    <a:latin typeface="Calibri" panose="020F0502020204030204"/>
                  </a:rPr>
                  <a:t>Below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B4550D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B4550D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rgbClr val="B4550D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b="1" i="0">
                    <a:solidFill>
                      <a:srgbClr val="B4550D"/>
                    </a:solidFill>
                    <a:latin typeface="Calibri" panose="020F0502020204030204"/>
                  </a:rPr>
                  <a:t> shapes vary</a:t>
                </a:r>
                <a:r>
                  <a:rPr lang="en-US" b="1" i="0">
                    <a:solidFill>
                      <a:srgbClr val="B4550D"/>
                    </a:solidFill>
                    <a:latin typeface="Calibri" panose="020F0502020204030204"/>
                  </a:rPr>
                  <a:t>: </a:t>
                </a:r>
                <a:r>
                  <a:rPr b="1" i="0">
                    <a:solidFill>
                      <a:srgbClr val="B4550D"/>
                    </a:solidFill>
                    <a:latin typeface="Calibri" panose="020F0502020204030204"/>
                  </a:rPr>
                  <a:t>error spread decides; </a:t>
                </a:r>
                <a:r>
                  <a:rPr b="0" i="0">
                    <a:solidFill>
                      <a:srgbClr val="262626"/>
                    </a:solidFill>
                    <a:latin typeface="Calibri" panose="020F0502020204030204"/>
                  </a:rPr>
                  <a:t>voting still beats single candidates everywhere.</a:t>
                </a:r>
                <a:endParaRPr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b="0" i="1">
                    <a:solidFill>
                      <a:srgbClr val="595959"/>
                    </a:solidFill>
                    <a:latin typeface="Calibri" panose="020F0502020204030204"/>
                  </a:rPr>
                  <a:t>The guaranteed regime vs</a:t>
                </a:r>
                <a:r>
                  <a:rPr lang="en-US" b="0" i="1">
                    <a:solidFill>
                      <a:srgbClr val="595959"/>
                    </a:solidFill>
                    <a:latin typeface="Calibri" panose="020F0502020204030204"/>
                  </a:rPr>
                  <a:t>.</a:t>
                </a:r>
                <a:r>
                  <a:rPr b="0" i="1">
                    <a:solidFill>
                      <a:srgbClr val="595959"/>
                    </a:solidFill>
                    <a:latin typeface="Calibri" panose="020F0502020204030204"/>
                  </a:rPr>
                  <a:t> the no-guarantee regime is the course's core lesson.</a:t>
                </a:r>
                <a:endParaRPr b="0" i="1">
                  <a:solidFill>
                    <a:srgbClr val="595959"/>
                  </a:solidFill>
                  <a:latin typeface="Calibri" panose="020F0502020204030204"/>
                </a:endParaRP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b="1" i="0">
                    <a:solidFill>
                      <a:srgbClr val="1F3864"/>
                    </a:solidFill>
                    <a:latin typeface="Calibri" panose="020F0502020204030204"/>
                  </a:rPr>
                  <a:t>p is your model's single-candidate accuracy</a:t>
                </a:r>
                <a:r>
                  <a:rPr lang="en-US" b="1" i="0">
                    <a:solidFill>
                      <a:srgbClr val="1F3864"/>
                    </a:solidFill>
                    <a:latin typeface="Calibri" panose="020F0502020204030204"/>
                  </a:rPr>
                  <a:t>: b</a:t>
                </a:r>
                <a:r>
                  <a:rPr lang="en-US" altLang="zh-CN" b="1" i="0">
                    <a:solidFill>
                      <a:srgbClr val="1F3864"/>
                    </a:solidFill>
                    <a:latin typeface="Calibri" panose="020F0502020204030204"/>
                  </a:rPr>
                  <a:t>e sure</a:t>
                </a:r>
                <a:r>
                  <a:rPr lang="en-US" b="1" i="0">
                    <a:solidFill>
                      <a:srgbClr val="1F3864"/>
                    </a:solidFill>
                    <a:latin typeface="Calibri" panose="020F0502020204030204"/>
                  </a:rPr>
                  <a:t> to </a:t>
                </a:r>
                <a:r>
                  <a:rPr b="1" i="0">
                    <a:solidFill>
                      <a:srgbClr val="1F3864"/>
                    </a:solidFill>
                    <a:latin typeface="Calibri" panose="020F0502020204030204"/>
                  </a:rPr>
                  <a:t>measure it</a:t>
                </a:r>
                <a:r>
                  <a:rPr lang="en-US" b="1" i="0">
                    <a:solidFill>
                      <a:srgbClr val="1F3864"/>
                    </a:solidFill>
                    <a:latin typeface="Calibri" panose="020F0502020204030204"/>
                  </a:rPr>
                  <a:t> first</a:t>
                </a:r>
                <a:r>
                  <a:rPr b="1" i="0">
                    <a:solidFill>
                      <a:srgbClr val="1F3864"/>
                    </a:solidFill>
                    <a:latin typeface="Calibri" panose="020F0502020204030204"/>
                  </a:rPr>
                  <a:t>, don't guess it.</a:t>
                </a:r>
                <a:endParaRPr b="1" i="0">
                  <a:solidFill>
                    <a:srgbClr val="1F3864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420" y="1620520"/>
                <a:ext cx="4757420" cy="3258185"/>
              </a:xfrm>
              <a:prstGeom prst="rect">
                <a:avLst/>
              </a:prstGeom>
              <a:blipFill rotWithShape="1">
                <a:blip r:embed="rId2"/>
                <a:stretch>
                  <a:fillRect t="-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8"/>
          <p:cNvSpPr txBox="1"/>
          <p:nvPr/>
        </p:nvSpPr>
        <p:spPr>
          <a:xfrm>
            <a:off x="640080" y="4816475"/>
            <a:ext cx="512064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1">
                <a:solidFill>
                  <a:srgbClr val="5F5F5F"/>
                </a:solidFill>
                <a:latin typeface="Calibri" panose="020F0502020204030204"/>
              </a:rPr>
              <a:t>Main models (Gemma-3-1B / Gemma-3-4B / Qwen3-4B): full 23-config grid, seed 0; the other three (Phi-4-Mini / Qwen3-0.6B / Qwen3-1.7B): 6-config student grid (search N=10/50 + verify splits). Headline numbers on p. 9 are 3-seed means.</a:t>
            </a:r>
            <a:endParaRPr lang="en-US" altLang="zh-CN" sz="1200" b="0" i="1">
              <a:solidFill>
                <a:srgbClr val="5F5F5F"/>
              </a:solidFill>
              <a:latin typeface="Calibri" panose="020F0502020204030204"/>
            </a:endParaRPr>
          </a:p>
        </p:txBody>
      </p:sp>
      <p:sp>
        <p:nvSpPr>
          <p:cNvPr id="30" name="Rounded Rectangle 9"/>
          <p:cNvSpPr/>
          <p:nvPr/>
        </p:nvSpPr>
        <p:spPr>
          <a:xfrm>
            <a:off x="640080" y="5493385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10"/>
          <p:cNvSpPr txBox="1"/>
          <p:nvPr/>
        </p:nvSpPr>
        <p:spPr>
          <a:xfrm>
            <a:off x="895985" y="5697855"/>
            <a:ext cx="10332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Calibri" panose="020F0502020204030204"/>
              </a:rPr>
              <a:t>Where do you stand? 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F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ind your own model's p in Experiment 1, then predict where its curve should sit.</a:t>
            </a:r>
            <a:endParaRPr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文本框 38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13 /20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COMPARE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Verifier Quality Sets the Ceiling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graphicFrame>
        <p:nvGraphicFramePr>
          <p:cNvPr id="14" name="Table 5"/>
          <p:cNvGraphicFramePr>
            <a:graphicFrameLocks noGrp="1"/>
          </p:cNvGraphicFramePr>
          <p:nvPr/>
        </p:nvGraphicFramePr>
        <p:xfrm>
          <a:off x="640080" y="1554480"/>
          <a:ext cx="10881360" cy="239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2370455"/>
                <a:gridCol w="229298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Verifier strength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Representative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Evidence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Lesson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Weak / none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LLM self-scoring, majority vote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this course's setting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search more reliable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Medium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zero-shot generative verifier (GenRM-Base)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COLM 2025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limited value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Strong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fine-tuned PRM / GenRM-FT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ICLR 2025 + COLM 2025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verification shines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Huge budget + deep self-check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sampling + self-verification (Verification@200)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ICML 2025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 panose="020F0502020204030204"/>
                        </a:rPr>
                        <a:t>self-verify beats voting</a:t>
                      </a:r>
                      <a:endParaRPr sz="1600" b="0" i="0">
                        <a:solidFill>
                          <a:srgbClr val="262626"/>
                        </a:solidFill>
                        <a:latin typeface="Calibri" panose="020F0502020204030204"/>
                      </a:endParaRP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7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6"/>
          <p:cNvSpPr txBox="1"/>
          <p:nvPr/>
        </p:nvSpPr>
        <p:spPr>
          <a:xfrm>
            <a:off x="640080" y="4128770"/>
            <a:ext cx="10881360" cy="1035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600" b="1" i="0">
                <a:solidFill>
                  <a:srgbClr val="1F3864"/>
                </a:solidFill>
                <a:latin typeface="Calibri" panose="020F0502020204030204"/>
              </a:rPr>
              <a:t>V</a:t>
            </a: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erifier quality decides the value of verification</a:t>
            </a:r>
            <a:r>
              <a:rPr lang="en-US" sz="1600" b="1" i="0">
                <a:solidFill>
                  <a:srgbClr val="1F3864"/>
                </a:solidFill>
                <a:latin typeface="Calibri" panose="020F0502020204030204"/>
              </a:rPr>
              <a:t>.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This course's claim sits at the weakest end of the spectrum (top row of this table), and the notebook experiments test exactly this.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ICLR 2025 used a strong trained PRM and found verification-guided search winning at mid budgets</a:t>
            </a:r>
            <a:r>
              <a:rPr lang="en-US" sz="1600" b="0" i="1">
                <a:solidFill>
                  <a:srgbClr val="595959"/>
                </a:solidFill>
                <a:latin typeface="Calibri" panose="020F0502020204030204"/>
              </a:rPr>
              <a:t>. </a:t>
            </a:r>
            <a:r>
              <a:rPr lang="en-US" altLang="zh-CN" sz="1600" b="0" i="1">
                <a:solidFill>
                  <a:srgbClr val="595959"/>
                </a:solidFill>
                <a:latin typeface="Calibri" panose="020F0502020204030204"/>
              </a:rPr>
              <a:t>The two results complement each other.</a:t>
            </a:r>
            <a:endParaRPr lang="en-US" altLang="zh-CN"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8"/>
              <p:cNvSpPr txBox="1"/>
              <p:nvPr/>
            </p:nvSpPr>
            <p:spPr>
              <a:xfrm>
                <a:off x="960120" y="5506720"/>
                <a:ext cx="10332720" cy="5556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i="0">
                    <a:solidFill>
                      <a:srgbClr val="FFFFFF"/>
                    </a:solidFill>
                    <a:latin typeface="Calibri" panose="020F0502020204030204"/>
                  </a:rPr>
                  <a:t>Design implication: 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with only a weak self-verifier, every call spent on M is borrowed from N—it shrinks the candidate pool while the judge's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/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 cap the return. </a:t>
                </a:r>
                <a:r>
                  <a:rPr lang="en-US" b="0" i="0">
                    <a:solidFill>
                      <a:srgbClr val="FFFFFF"/>
                    </a:solidFill>
                    <a:latin typeface="Calibri" panose="020F0502020204030204"/>
                  </a:rPr>
                  <a:t>R</a:t>
                </a:r>
                <a:r>
                  <a:rPr b="0" i="0">
                    <a:solidFill>
                      <a:srgbClr val="FFFFFF"/>
                    </a:solidFill>
                    <a:latin typeface="Calibri" panose="020F0502020204030204"/>
                  </a:rPr>
                  <a:t>aise N first; invest in M only when the verifier is strong.</a:t>
                </a:r>
                <a:endParaRPr b="0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0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5506720"/>
                <a:ext cx="10332720" cy="555625"/>
              </a:xfrm>
              <a:prstGeom prst="rect">
                <a:avLst/>
              </a:prstGeom>
              <a:blipFill rotWithShape="1">
                <a:blip r:embed="rId1"/>
                <a:stretch>
                  <a:fillRect t="-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14 /20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Rounded Rectangle 27"/>
          <p:cNvSpPr/>
          <p:nvPr>
            <p:custDataLst>
              <p:tags r:id="rId1"/>
            </p:custDataLst>
          </p:nvPr>
        </p:nvSpPr>
        <p:spPr>
          <a:xfrm>
            <a:off x="7680960" y="3753485"/>
            <a:ext cx="3551555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21"/>
          <p:cNvSpPr/>
          <p:nvPr>
            <p:custDataLst>
              <p:tags r:id="rId2"/>
            </p:custDataLst>
          </p:nvPr>
        </p:nvSpPr>
        <p:spPr>
          <a:xfrm>
            <a:off x="4165600" y="3753485"/>
            <a:ext cx="35077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15"/>
          <p:cNvSpPr/>
          <p:nvPr>
            <p:custDataLst>
              <p:tags r:id="rId3"/>
            </p:custDataLst>
          </p:nvPr>
        </p:nvSpPr>
        <p:spPr>
          <a:xfrm>
            <a:off x="644525" y="3753485"/>
            <a:ext cx="3515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DECIDE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4"/>
              <p:cNvSpPr txBox="1"/>
              <p:nvPr/>
            </p:nvSpPr>
            <p:spPr>
              <a:xfrm>
                <a:off x="896112" y="658368"/>
                <a:ext cx="10607040" cy="43053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00" b="1" i="0">
                    <a:solidFill>
                      <a:srgbClr val="1F3864"/>
                    </a:solidFill>
                    <a:latin typeface="Segoe UI" panose="020B0502040204020203"/>
                  </a:rPr>
                  <a:t>Decision Tree (1): Know Your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</m:oMath>
                </a14:m>
                <a:endParaRPr sz="2800" b="1" i="0">
                  <a:solidFill>
                    <a:srgbClr val="1F3864"/>
                  </a:solidFill>
                  <a:latin typeface="Segoe UI" panose="020B0502040204020203"/>
                </a:endParaRPr>
              </a:p>
            </p:txBody>
          </p:sp>
        </mc:Choice>
        <mc:Fallback>
          <p:sp>
            <p:nvSpPr>
              <p:cNvPr id="36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658368"/>
                <a:ext cx="10607040" cy="430530"/>
              </a:xfrm>
              <a:prstGeom prst="rect">
                <a:avLst/>
              </a:prstGeom>
              <a:blipFill rotWithShape="1">
                <a:blip r:embed="rId4"/>
                <a:stretch>
                  <a:fillRect l="-1" t="-5575" r="1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5"/>
              <p:cNvSpPr txBox="1"/>
              <p:nvPr/>
            </p:nvSpPr>
            <p:spPr>
              <a:xfrm>
                <a:off x="640080" y="1371600"/>
                <a:ext cx="10881360" cy="2457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Given a task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,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budget B 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and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model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: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first estimate the single-candidate accuracy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(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5~10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problem probe).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7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71600"/>
                <a:ext cx="10881360" cy="245745"/>
              </a:xfrm>
              <a:prstGeom prst="rect">
                <a:avLst/>
              </a:prstGeom>
              <a:blipFill rotWithShape="1">
                <a:blip r:embed="rId5"/>
                <a:stretch>
                  <a:fillRect t="-1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6"/>
          <p:cNvSpPr/>
          <p:nvPr/>
        </p:nvSpPr>
        <p:spPr>
          <a:xfrm>
            <a:off x="4160520" y="1874520"/>
            <a:ext cx="3566160" cy="54864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7"/>
              <p:cNvSpPr txBox="1"/>
              <p:nvPr/>
            </p:nvSpPr>
            <p:spPr>
              <a:xfrm>
                <a:off x="4434840" y="1987423"/>
                <a:ext cx="3017520" cy="3073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FFFFFF"/>
                    </a:solidFill>
                    <a:latin typeface="Calibri" panose="020F0502020204030204"/>
                  </a:rPr>
                  <a:t>Measure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</m:oMath>
                </a14:m>
                <a:r>
                  <a:rPr sz="2000" b="1" i="0">
                    <a:solidFill>
                      <a:srgbClr val="FFFFFF"/>
                    </a:solidFill>
                    <a:latin typeface="Calibri" panose="020F0502020204030204"/>
                  </a:rPr>
                  <a:t> first</a:t>
                </a:r>
                <a:endParaRPr sz="2000" b="1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9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1987423"/>
                <a:ext cx="3017520" cy="307340"/>
              </a:xfrm>
              <a:prstGeom prst="rect">
                <a:avLst/>
              </a:prstGeom>
              <a:blipFill rotWithShape="1">
                <a:blip r:embed="rId6"/>
                <a:stretch>
                  <a:fillRect t="-992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11"/>
          <p:cNvSpPr/>
          <p:nvPr>
            <p:custDataLst>
              <p:tags r:id="rId7"/>
            </p:custDataLst>
          </p:nvPr>
        </p:nvSpPr>
        <p:spPr>
          <a:xfrm>
            <a:off x="640080" y="2880360"/>
            <a:ext cx="356616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12"/>
              <p:cNvSpPr txBox="1"/>
              <p:nvPr/>
            </p:nvSpPr>
            <p:spPr>
              <a:xfrm>
                <a:off x="822960" y="2980944"/>
                <a:ext cx="3200400" cy="3073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≤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𝟓</m:t>
                      </m:r>
                    </m:oMath>
                  </m:oMathPara>
                </a14:m>
                <a:endParaRPr sz="2000" b="1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4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980944"/>
                <a:ext cx="3200400" cy="307340"/>
              </a:xfrm>
              <a:prstGeom prst="rect">
                <a:avLst/>
              </a:prstGeom>
              <a:blipFill rotWithShape="1">
                <a:blip r:embed="rId8"/>
                <a:stretch>
                  <a:fillRect t="-8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13"/>
          <p:cNvSpPr/>
          <p:nvPr>
            <p:custDataLst>
              <p:tags r:id="rId9"/>
            </p:custDataLst>
          </p:nvPr>
        </p:nvSpPr>
        <p:spPr>
          <a:xfrm>
            <a:off x="646430" y="3383280"/>
            <a:ext cx="3512185" cy="457200"/>
          </a:xfrm>
          <a:prstGeom prst="rect">
            <a:avLst/>
          </a:prstGeom>
          <a:solidFill>
            <a:srgbClr val="DEEBF7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14"/>
          <p:cNvSpPr txBox="1"/>
          <p:nvPr>
            <p:custDataLst>
              <p:tags r:id="rId10"/>
            </p:custDataLst>
          </p:nvPr>
        </p:nvSpPr>
        <p:spPr>
          <a:xfrm>
            <a:off x="822960" y="3456432"/>
            <a:ext cx="32004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no mathematical guarantee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22960" y="3899789"/>
                <a:ext cx="3200400" cy="148209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1400" b="1" i="0">
                    <a:solidFill>
                      <a:srgbClr val="B4550D"/>
                    </a:solidFill>
                    <a:latin typeface="Calibri" panose="020F0502020204030204"/>
                  </a:rPr>
                  <a:t>• </a:t>
                </a:r>
                <a:r>
                  <a:rPr sz="1400" b="0" i="0">
                    <a:solidFill>
                      <a:srgbClr val="262626"/>
                    </a:solidFill>
                    <a:latin typeface="Calibri" panose="020F0502020204030204"/>
                  </a:rPr>
                  <a:t>Probe: </a:t>
                </a:r>
                <a:r>
                  <a:rPr lang="en-US" sz="1400" b="0" i="0">
                    <a:solidFill>
                      <a:srgbClr val="262626"/>
                    </a:solidFill>
                    <a:latin typeface="Calibri" panose="020F0502020204030204"/>
                  </a:rPr>
                  <a:t>5~10</a:t>
                </a:r>
                <a:r>
                  <a:rPr sz="1400" b="0" i="0">
                    <a:solidFill>
                      <a:srgbClr val="262626"/>
                    </a:solidFill>
                    <a:latin typeface="Calibri" panose="020F0502020204030204"/>
                  </a:rPr>
                  <a:t> problems, majority vote vs single sample</a:t>
                </a:r>
                <a:endParaRPr sz="14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1400" b="1" i="0">
                    <a:solidFill>
                      <a:srgbClr val="B4550D"/>
                    </a:solidFill>
                    <a:latin typeface="Calibri" panose="020F0502020204030204"/>
                  </a:rPr>
                  <a:t>• </a:t>
                </a:r>
                <a:r>
                  <a:rPr sz="1400" b="0" i="0">
                    <a:solidFill>
                      <a:srgbClr val="262626"/>
                    </a:solidFill>
                    <a:latin typeface="Calibri" panose="020F0502020204030204"/>
                  </a:rPr>
                  <a:t>Voting can still win</a:t>
                </a:r>
                <a:r>
                  <a:rPr lang="en-US" sz="1400" b="0" i="0">
                    <a:solidFill>
                      <a:srgbClr val="262626"/>
                    </a:solidFill>
                    <a:latin typeface="Calibri" panose="020F0502020204030204"/>
                  </a:rPr>
                  <a:t>; </a:t>
                </a:r>
                <a:r>
                  <a:rPr sz="1400" b="0" i="0">
                    <a:solidFill>
                      <a:srgbClr val="262626"/>
                    </a:solidFill>
                    <a:latin typeface="Calibri" panose="020F0502020204030204"/>
                  </a:rPr>
                  <a:t>e.g. 0.6B (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sz="14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sz="14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sz="14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sz="14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41</m:t>
                    </m:r>
                  </m:oMath>
                </a14:m>
                <a:r>
                  <a:rPr sz="1400" b="0" i="0">
                    <a:solidFill>
                      <a:srgbClr val="262626"/>
                    </a:solidFill>
                    <a:latin typeface="Calibri" panose="020F0502020204030204"/>
                  </a:rPr>
                  <a:t>) reaches 0.61 at N=10</a:t>
                </a:r>
                <a:endParaRPr sz="14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 i="0">
                    <a:solidFill>
                      <a:srgbClr val="B4550D"/>
                    </a:solidFill>
                    <a:latin typeface="Calibri" panose="020F0502020204030204"/>
                  </a:rPr>
                  <a:t>• </a:t>
                </a:r>
                <a:r>
                  <a:rPr sz="1400" b="0" i="0">
                    <a:solidFill>
                      <a:srgbClr val="262626"/>
                    </a:solidFill>
                    <a:latin typeface="Calibri" panose="020F0502020204030204"/>
                  </a:rPr>
                  <a:t>If voting loses: single samples, or borrow a stronger verifier</a:t>
                </a:r>
                <a:endParaRPr sz="14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8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822960" y="3899789"/>
                <a:ext cx="3200400" cy="1482090"/>
              </a:xfrm>
              <a:prstGeom prst="rect">
                <a:avLst/>
              </a:prstGeom>
              <a:blipFill rotWithShape="1">
                <a:blip r:embed="rId13"/>
                <a:stretch>
                  <a:fillRect t="-1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17"/>
          <p:cNvSpPr/>
          <p:nvPr>
            <p:custDataLst>
              <p:tags r:id="rId14"/>
            </p:custDataLst>
          </p:nvPr>
        </p:nvSpPr>
        <p:spPr>
          <a:xfrm>
            <a:off x="4160520" y="2880360"/>
            <a:ext cx="3566160" cy="5029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18"/>
              <p:cNvSpPr txBox="1"/>
              <p:nvPr/>
            </p:nvSpPr>
            <p:spPr>
              <a:xfrm>
                <a:off x="4343400" y="2980944"/>
                <a:ext cx="3200400" cy="3073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𝟓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≤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𝟔</m:t>
                      </m:r>
                    </m:oMath>
                  </m:oMathPara>
                </a14:m>
                <a:endParaRPr sz="2000" b="1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0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2980944"/>
                <a:ext cx="3200400" cy="307340"/>
              </a:xfrm>
              <a:prstGeom prst="rect">
                <a:avLst/>
              </a:prstGeom>
              <a:blipFill rotWithShape="1">
                <a:blip r:embed="rId15"/>
                <a:stretch>
                  <a:fillRect t="-8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19"/>
          <p:cNvSpPr/>
          <p:nvPr>
            <p:custDataLst>
              <p:tags r:id="rId16"/>
            </p:custDataLst>
          </p:nvPr>
        </p:nvSpPr>
        <p:spPr>
          <a:xfrm>
            <a:off x="4164330" y="3383280"/>
            <a:ext cx="3510280" cy="45720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20"/>
          <p:cNvSpPr txBox="1"/>
          <p:nvPr>
            <p:custDataLst>
              <p:tags r:id="rId17"/>
            </p:custDataLst>
          </p:nvPr>
        </p:nvSpPr>
        <p:spPr>
          <a:xfrm>
            <a:off x="4343400" y="3456432"/>
            <a:ext cx="32004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95959"/>
                </a:solidFill>
                <a:latin typeface="Calibri" panose="020F0502020204030204"/>
              </a:rPr>
              <a:t>gray zone</a:t>
            </a:r>
            <a:r>
              <a:rPr lang="en-US" sz="1600" b="1" i="0">
                <a:solidFill>
                  <a:srgbClr val="595959"/>
                </a:solidFill>
                <a:latin typeface="Calibri" panose="020F0502020204030204"/>
              </a:rPr>
              <a:t>: </a:t>
            </a:r>
            <a:r>
              <a:rPr sz="1600" b="1" i="0">
                <a:solidFill>
                  <a:srgbClr val="595959"/>
                </a:solidFill>
                <a:latin typeface="Calibri" panose="020F0502020204030204"/>
              </a:rPr>
              <a:t>guarantee weakens</a:t>
            </a:r>
            <a:endParaRPr sz="1600" b="1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54" name="TextBox 22"/>
          <p:cNvSpPr txBox="1"/>
          <p:nvPr>
            <p:custDataLst>
              <p:tags r:id="rId18"/>
            </p:custDataLst>
          </p:nvPr>
        </p:nvSpPr>
        <p:spPr>
          <a:xfrm>
            <a:off x="4330065" y="3899789"/>
            <a:ext cx="3200400" cy="148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595959"/>
                </a:solidFill>
                <a:latin typeface="Calibri" panose="020F0502020204030204"/>
              </a:rPr>
              <a:t>• </a:t>
            </a:r>
            <a:r>
              <a:rPr lang="en-US" sz="1400" i="0">
                <a:solidFill>
                  <a:srgbClr val="262626"/>
                </a:solidFill>
                <a:latin typeface="Calibri" panose="020F0502020204030204"/>
              </a:rPr>
              <a:t>Measured in this band: Phi-4-Mini (p ≈ 0.54)</a:t>
            </a:r>
            <a:endParaRPr lang="en-US" sz="140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595959"/>
                </a:solidFill>
                <a:latin typeface="Calibri" panose="020F0502020204030204"/>
              </a:rPr>
              <a:t>•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Probe 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5~10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 problems and decide from measured behavior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95959"/>
                </a:solidFill>
                <a:latin typeface="Calibri" panose="020F0502020204030204"/>
              </a:rPr>
              <a:t>•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Whichever side wins, treat it as your p going forward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55" name="Rectangle 23"/>
          <p:cNvSpPr/>
          <p:nvPr>
            <p:custDataLst>
              <p:tags r:id="rId19"/>
            </p:custDataLst>
          </p:nvPr>
        </p:nvSpPr>
        <p:spPr>
          <a:xfrm>
            <a:off x="7680960" y="2880360"/>
            <a:ext cx="355346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24"/>
              <p:cNvSpPr txBox="1"/>
              <p:nvPr/>
            </p:nvSpPr>
            <p:spPr>
              <a:xfrm>
                <a:off x="7863840" y="2980944"/>
                <a:ext cx="3200400" cy="3073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&gt;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FFFF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𝟔</m:t>
                      </m:r>
                    </m:oMath>
                  </m:oMathPara>
                </a14:m>
                <a:endParaRPr sz="2000" b="1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6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2980944"/>
                <a:ext cx="3200400" cy="307340"/>
              </a:xfrm>
              <a:prstGeom prst="rect">
                <a:avLst/>
              </a:prstGeom>
              <a:blipFill rotWithShape="1">
                <a:blip r:embed="rId20"/>
                <a:stretch>
                  <a:fillRect t="-8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25"/>
          <p:cNvSpPr/>
          <p:nvPr>
            <p:custDataLst>
              <p:tags r:id="rId21"/>
            </p:custDataLst>
          </p:nvPr>
        </p:nvSpPr>
        <p:spPr>
          <a:xfrm>
            <a:off x="7680960" y="3383280"/>
            <a:ext cx="3549650" cy="45720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26"/>
          <p:cNvSpPr txBox="1"/>
          <p:nvPr>
            <p:custDataLst>
              <p:tags r:id="rId22"/>
            </p:custDataLst>
          </p:nvPr>
        </p:nvSpPr>
        <p:spPr>
          <a:xfrm>
            <a:off x="7863840" y="3456432"/>
            <a:ext cx="32004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Calibri" panose="020F0502020204030204"/>
              </a:rPr>
              <a:t>Chernoff guarantee active</a:t>
            </a:r>
            <a:endParaRPr sz="16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60" name="TextBox 28"/>
          <p:cNvSpPr txBox="1"/>
          <p:nvPr>
            <p:custDataLst>
              <p:tags r:id="rId23"/>
            </p:custDataLst>
          </p:nvPr>
        </p:nvSpPr>
        <p:spPr>
          <a:xfrm>
            <a:off x="7863840" y="4077970"/>
            <a:ext cx="3211830" cy="805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Calibri" panose="020F0502020204030204"/>
              </a:rPr>
              <a:t>•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Voting scales with N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the guarantee is real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Calibri" panose="020F0502020204030204"/>
              </a:rPr>
              <a:t>•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Measured: 1.7B 0.8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2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 and 4B 0.8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6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 at N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=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50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Calibri" panose="020F0502020204030204"/>
              </a:rPr>
              <a:t>•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Then follow the budget branch (next page)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61" name="Rounded Rectangle 29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30"/>
          <p:cNvSpPr txBox="1"/>
          <p:nvPr/>
        </p:nvSpPr>
        <p:spPr>
          <a:xfrm>
            <a:off x="960120" y="5833110"/>
            <a:ext cx="103327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Calibri" panose="020F0502020204030204"/>
              </a:rPr>
              <a:t>The threshold (1/2, 0.6) is a modeling convention, not a hard law</a:t>
            </a:r>
            <a:r>
              <a:rPr lang="en-US" b="1" i="0">
                <a:solidFill>
                  <a:srgbClr val="FFFFFF"/>
                </a:solidFill>
                <a:latin typeface="Calibri" panose="020F0502020204030204"/>
              </a:rPr>
              <a:t>. 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M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easure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 first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, then decide. 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Remember that t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he tree is a hypothesis to test, not a verdict.</a:t>
            </a:r>
            <a:endParaRPr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肘形连接符 65"/>
          <p:cNvCxnSpPr>
            <a:stCxn id="38" idx="2"/>
            <a:endCxn id="43" idx="0"/>
          </p:cNvCxnSpPr>
          <p:nvPr/>
        </p:nvCxnSpPr>
        <p:spPr>
          <a:xfrm rot="5400000">
            <a:off x="3954780" y="891540"/>
            <a:ext cx="457200" cy="3520440"/>
          </a:xfrm>
          <a:prstGeom prst="bentConnector3">
            <a:avLst>
              <a:gd name="adj1" fmla="val 50000"/>
            </a:avLst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38" idx="2"/>
          </p:cNvCxnSpPr>
          <p:nvPr/>
        </p:nvCxnSpPr>
        <p:spPr>
          <a:xfrm>
            <a:off x="5943600" y="2423160"/>
            <a:ext cx="0" cy="45720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38" idx="2"/>
            <a:endCxn id="55" idx="0"/>
          </p:cNvCxnSpPr>
          <p:nvPr/>
        </p:nvCxnSpPr>
        <p:spPr>
          <a:xfrm rot="5400000" flipV="1">
            <a:off x="7472045" y="894715"/>
            <a:ext cx="457200" cy="3514090"/>
          </a:xfrm>
          <a:prstGeom prst="bentConnector3">
            <a:avLst>
              <a:gd name="adj1" fmla="val 50000"/>
            </a:avLst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15 /20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DECIDE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96112" y="658368"/>
                <a:ext cx="10607040" cy="43053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00" b="1" i="0">
                    <a:solidFill>
                      <a:srgbClr val="1F3864"/>
                    </a:solidFill>
                    <a:latin typeface="Segoe UI" panose="020B0502040204020203"/>
                  </a:rPr>
                  <a:t>Decision Tree (2): Budget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1F3864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</m:oMath>
                </a14:m>
                <a:r>
                  <a:rPr sz="2800" b="1" i="0">
                    <a:solidFill>
                      <a:srgbClr val="1F3864"/>
                    </a:solidFill>
                    <a:latin typeface="Segoe UI" panose="020B0502040204020203"/>
                  </a:rPr>
                  <a:t> Verifier</a:t>
                </a:r>
                <a:endParaRPr sz="2800" b="1" i="0">
                  <a:solidFill>
                    <a:srgbClr val="1F3864"/>
                  </a:solidFill>
                  <a:latin typeface="Segoe UI" panose="020B0502040204020203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658368"/>
                <a:ext cx="10607040" cy="430530"/>
              </a:xfrm>
              <a:prstGeom prst="rect">
                <a:avLst/>
              </a:prstGeom>
              <a:blipFill rotWithShape="1">
                <a:blip r:embed="rId1"/>
                <a:stretch>
                  <a:fillRect l="-1" t="-5575" r="1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40080" y="1554480"/>
              <a:ext cx="1088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/>
                    <a:gridCol w="5577840"/>
                    <a:gridCol w="3657600"/>
                  </a:tblGrid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Budget B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Recommendation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Why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&lt;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pure search (N = B)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too few candidates to share with a verifier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10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≤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&lt;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verifier weak or unknown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pure search; verifier strong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search-first (e.g. N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25, M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1)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guaranteed voting beats a weak judge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 wrap="square"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≥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strong verifier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split (e.g. N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50, M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1); no good verifier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pure search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marginal value of extra candidates drops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40080" y="1554480"/>
              <a:ext cx="1088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/>
                    <a:gridCol w="5577840"/>
                    <a:gridCol w="3657600"/>
                  </a:tblGrid>
                  <a:tr h="457200"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Budget B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Recommendation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Why</a:t>
                          </a:r>
                          <a:endParaRPr sz="16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</a:tr>
                  <a:tr h="561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pure search (N = B)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too few candidates to share with a verifier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561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verifier weak or unknown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pure search; verifier strong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search-first (e.g. N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25, M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1)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guaranteed voting beats a weak judge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561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strong verifier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split (e.g. N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50, M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=</a:t>
                          </a:r>
                          <a:r>
                            <a:rPr lang="en-US"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1); no good verifier 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→</a:t>
                          </a:r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pure search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6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marginal value of extra candidates drops</a:t>
                          </a:r>
                          <a:endParaRPr sz="16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Rounded Rectangle 6"/>
          <p:cNvSpPr/>
          <p:nvPr/>
        </p:nvSpPr>
        <p:spPr>
          <a:xfrm>
            <a:off x="640080" y="4023360"/>
            <a:ext cx="1088136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821690" y="4241165"/>
                <a:ext cx="10518140" cy="6153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1F3864"/>
                    </a:solidFill>
                    <a:latin typeface="Calibri" panose="020F0502020204030204"/>
                  </a:rPr>
                  <a:t>Reading the branches: </a:t>
                </a:r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the pattern is </a:t>
                </a:r>
                <a:r>
                  <a:rPr lang="en-US" sz="2000" b="0" i="0">
                    <a:solidFill>
                      <a:srgbClr val="262626"/>
                    </a:solidFill>
                    <a:latin typeface="Calibri" panose="020F0502020204030204"/>
                  </a:rPr>
                  <a:t>“</a:t>
                </a:r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generate first, judge later”.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r>
                      <a:rPr lang="en-US" sz="20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sz="20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10</m:t>
                    </m:r>
                  </m:oMath>
                </a14:m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 leaves no room to</a:t>
                </a:r>
                <a:r>
                  <a:rPr lang="en-US" sz="20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split;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sz="2000" b="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r>
                      <a:rPr lang="en-US" sz="20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sz="20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100</m:t>
                    </m:r>
                  </m:oMath>
                </a14:m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 with a strong judge makes splitting worthwhile</a:t>
                </a:r>
                <a:r>
                  <a:rPr lang="en-US" sz="2000" b="0" i="0">
                    <a:solidFill>
                      <a:srgbClr val="262626"/>
                    </a:solidFill>
                    <a:latin typeface="Calibri" panose="020F0502020204030204"/>
                  </a:rPr>
                  <a:t>.</a:t>
                </a:r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lang="en-US" sz="2000" b="0" i="0">
                    <a:solidFill>
                      <a:srgbClr val="262626"/>
                    </a:solidFill>
                    <a:latin typeface="Calibri" panose="020F0502020204030204"/>
                  </a:rPr>
                  <a:t>W</a:t>
                </a:r>
                <a:r>
                  <a:rPr sz="2000" b="0" i="0">
                    <a:solidFill>
                      <a:srgbClr val="262626"/>
                    </a:solidFill>
                    <a:latin typeface="Calibri" panose="020F0502020204030204"/>
                  </a:rPr>
                  <a:t>ithout a good judge, search always wins.</a:t>
                </a:r>
                <a:endParaRPr sz="20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90" y="4241165"/>
                <a:ext cx="10518140" cy="615315"/>
              </a:xfrm>
              <a:prstGeom prst="rect">
                <a:avLst/>
              </a:prstGeom>
              <a:blipFill rotWithShape="1">
                <a:blip r:embed="rId3"/>
                <a:stretch>
                  <a:fillRect t="-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640080" y="5498465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64505"/>
            <a:ext cx="103327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Calibri" panose="020F0502020204030204"/>
              </a:rPr>
              <a:t>Caveat: </a:t>
            </a: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The 10/100 thresholds are based on experimental experience, and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 your probe may shift them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. T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hat is exactly what Experiment 3 tests.</a:t>
            </a:r>
            <a:endParaRPr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框 13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16 /20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HANDS-ON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21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Experiment 1: Budget Efficiency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640080" y="1417320"/>
            <a:ext cx="5120640" cy="2715260"/>
          </a:xfrm>
          <a:prstGeom prst="roundRect">
            <a:avLst>
              <a:gd name="adj" fmla="val 6000"/>
            </a:avLst>
          </a:prstGeom>
          <a:noFill/>
          <a:ln w="1524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6"/>
          <p:cNvSpPr txBox="1"/>
          <p:nvPr/>
        </p:nvSpPr>
        <p:spPr>
          <a:xfrm>
            <a:off x="960120" y="1554480"/>
            <a:ext cx="4572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What you do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7"/>
              <p:cNvSpPr txBox="1"/>
              <p:nvPr/>
            </p:nvSpPr>
            <p:spPr>
              <a:xfrm>
                <a:off x="960120" y="1945005"/>
                <a:ext cx="4507230" cy="20980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Fix B = 50 on the shared 6-problem MATH-500 subset, and run the six representative configs: search (N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10, N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50) and verify (N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5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&amp;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M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1, N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5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&amp;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M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9, N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10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&amp;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M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4, N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25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&amp;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M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=</a:t>
                </a:r>
                <a:r>
                  <a:rPr lang="en-US" sz="1600" b="0" i="0">
                    <a:solidFill>
                      <a:srgbClr val="262626"/>
                    </a:solidFill>
                    <a:latin typeface="Calibri" panose="020F0502020204030204"/>
                  </a:rPr>
                  <a:t>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1).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Plot your model's budget–accuracy curve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points).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B4550D"/>
                    </a:solidFill>
                    <a:latin typeface="Calibri" panose="020F0502020204030204"/>
                  </a:rPr>
                  <a:t>Optional sub-experiment: 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score the same candidates with your model (self) vs Qwen3-4B (unified)—verifier quality isolated.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4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945005"/>
                <a:ext cx="4507230" cy="2098040"/>
              </a:xfrm>
              <a:prstGeom prst="rect">
                <a:avLst/>
              </a:prstGeom>
              <a:blipFill rotWithShape="1">
                <a:blip r:embed="rId1"/>
                <a:stretch>
                  <a:fillRect t="-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8"/>
          <p:cNvSpPr/>
          <p:nvPr/>
        </p:nvSpPr>
        <p:spPr>
          <a:xfrm>
            <a:off x="6355080" y="1417320"/>
            <a:ext cx="5166360" cy="272288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9"/>
          <p:cNvSpPr txBox="1"/>
          <p:nvPr/>
        </p:nvSpPr>
        <p:spPr>
          <a:xfrm>
            <a:off x="6675120" y="1554480"/>
            <a:ext cx="4572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0">
                <a:solidFill>
                  <a:srgbClr val="1F3864"/>
                </a:solidFill>
                <a:latin typeface="Calibri" panose="020F0502020204030204"/>
              </a:rPr>
              <a:t>Watch the demo, then answer</a:t>
            </a:r>
            <a:endParaRPr lang="en-US" altLang="zh-CN"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27" name="TextBox 10"/>
          <p:cNvSpPr txBox="1"/>
          <p:nvPr/>
        </p:nvSpPr>
        <p:spPr>
          <a:xfrm>
            <a:off x="6675120" y="2256790"/>
            <a:ext cx="4572000" cy="1294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>
                <a:solidFill>
                  <a:srgbClr val="262626"/>
                </a:solidFill>
                <a:latin typeface="Calibri" panose="020F0502020204030204"/>
              </a:rPr>
              <a:t>Where do the two curves cross? 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How much budget does verification need to catch up with N = 50 voting?</a:t>
            </a:r>
            <a:endParaRPr sz="1600"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Does your p (measured from single samples) predict the shape?</a:t>
            </a:r>
            <a:endParaRPr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21665" y="4337685"/>
            <a:ext cx="10881360" cy="777240"/>
            <a:chOff x="1008" y="6336"/>
            <a:chExt cx="17136" cy="1224"/>
          </a:xfrm>
        </p:grpSpPr>
        <p:sp>
          <p:nvSpPr>
            <p:cNvPr id="28" name="Rounded Rectangle 11"/>
            <p:cNvSpPr/>
            <p:nvPr/>
          </p:nvSpPr>
          <p:spPr>
            <a:xfrm>
              <a:off x="1008" y="6336"/>
              <a:ext cx="17136" cy="1224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12"/>
            <p:cNvSpPr txBox="1"/>
            <p:nvPr/>
          </p:nvSpPr>
          <p:spPr>
            <a:xfrm>
              <a:off x="1512" y="6479"/>
              <a:ext cx="16128" cy="8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>
                  <a:solidFill>
                    <a:schemeClr val="accent5"/>
                  </a:solidFill>
                  <a:latin typeface="Calibri" panose="020F0502020204030204"/>
                </a:rPr>
                <a:t>Entry:</a:t>
              </a:r>
              <a:r>
                <a:rPr b="1" i="0">
                  <a:solidFill>
                    <a:srgbClr val="2BB673"/>
                  </a:solidFill>
                  <a:latin typeface="Calibri" panose="020F0502020204030204"/>
                </a:rPr>
                <a:t> </a:t>
              </a:r>
              <a:r>
                <a:rPr lang="en-US" altLang="zh-CN" b="0" i="0">
                  <a:solidFill>
                    <a:srgbClr val="262626"/>
                  </a:solidFill>
                  <a:latin typeface="Calibri" panose="020F0502020204030204"/>
                </a:rPr>
                <a:t>notebooks/01_budget_efficiency.ipynb. Pick one model that fits your device; cached six-model curves are provided for the rest.</a:t>
              </a:r>
              <a:endParaRPr lang="en-US" altLang="zh-CN" b="0" i="0">
                <a:solidFill>
                  <a:srgbClr val="262626"/>
                </a:solidFill>
                <a:latin typeface="Calibri" panose="020F0502020204030204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13"/>
              <p:cNvSpPr txBox="1"/>
              <p:nvPr/>
            </p:nvSpPr>
            <p:spPr>
              <a:xfrm>
                <a:off x="640080" y="5270500"/>
                <a:ext cx="10881360" cy="2889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B4550D"/>
                    </a:solidFill>
                    <a:latin typeface="Calibri" panose="020F0502020204030204"/>
                  </a:rPr>
                  <a:t>Rubric check (goal 2): </a:t>
                </a:r>
                <a:r>
                  <a:rPr sz="1600" b="0" i="1">
                    <a:solidFill>
                      <a:srgbClr val="595959"/>
                    </a:solidFill>
                    <a:latin typeface="Calibri" panose="020F0502020204030204"/>
                  </a:rPr>
                  <a:t>“plot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sz="1600" i="1">
                        <a:solidFill>
                          <a:srgbClr val="595959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sz="1600" b="0" i="1">
                    <a:solidFill>
                      <a:srgbClr val="595959"/>
                    </a:solidFill>
                    <a:latin typeface="Calibri" panose="020F0502020204030204"/>
                  </a:rPr>
                  <a:t> points on your own curve and interpret the six-model family, mentioning p ordering.”</a:t>
                </a:r>
                <a:endParaRPr sz="1600" b="0" i="1">
                  <a:solidFill>
                    <a:srgbClr val="595959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0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270500"/>
                <a:ext cx="10881360" cy="288925"/>
              </a:xfrm>
              <a:prstGeom prst="rect">
                <a:avLst/>
              </a:prstGeom>
              <a:blipFill rotWithShape="1">
                <a:blip r:embed="rId2"/>
                <a:stretch>
                  <a:fillRect t="-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ounded Rectangle 14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15"/>
          <p:cNvSpPr txBox="1"/>
          <p:nvPr/>
        </p:nvSpPr>
        <p:spPr>
          <a:xfrm>
            <a:off x="960120" y="5781040"/>
            <a:ext cx="103327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Calibri" panose="020F0502020204030204"/>
              </a:rPr>
              <a:t>Expected direction: </a:t>
            </a: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With this configuration, the search should succeed. If your results differ, </a:t>
            </a:r>
            <a:r>
              <a:rPr lang="en-US" altLang="zh-CN" b="1" i="0">
                <a:solidFill>
                  <a:srgbClr val="FFFFFF"/>
                </a:solidFill>
                <a:latin typeface="Calibri" panose="020F0502020204030204"/>
              </a:rPr>
              <a:t>trust your data, analyze it, and explain the difference.</a:t>
            </a:r>
            <a:endParaRPr lang="en-US" altLang="zh-CN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文本框 36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17 /20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Rounded Rectangle 10"/>
          <p:cNvSpPr/>
          <p:nvPr/>
        </p:nvSpPr>
        <p:spPr>
          <a:xfrm>
            <a:off x="584200" y="1308735"/>
            <a:ext cx="5511165" cy="131508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HANDS-ON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33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Experiments 2–3: Optimal Ratio &amp; New Tasks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pic>
        <p:nvPicPr>
          <p:cNvPr id="34" name="Picture 5" descr="D:/NeurIPS2026_Edu_Track/assets/热力图/fig_heatmap.pngfig_heatmap"/>
          <p:cNvPicPr>
            <a:picLocks noChangeAspect="1"/>
          </p:cNvPicPr>
          <p:nvPr/>
        </p:nvPicPr>
        <p:blipFill>
          <a:blip r:embed="rId1"/>
          <a:srcRect l="86" r="86"/>
          <a:stretch>
            <a:fillRect/>
          </a:stretch>
        </p:blipFill>
        <p:spPr>
          <a:xfrm>
            <a:off x="960120" y="2623820"/>
            <a:ext cx="4730115" cy="33356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6"/>
              <p:cNvSpPr txBox="1"/>
              <p:nvPr/>
            </p:nvSpPr>
            <p:spPr>
              <a:xfrm>
                <a:off x="852805" y="1377950"/>
                <a:ext cx="4973320" cy="117665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</a:pPr>
                <a:r>
                  <a:rPr sz="1600" b="1" i="0">
                    <a:solidFill>
                      <a:srgbClr val="1F3864"/>
                    </a:solidFill>
                    <a:latin typeface="Calibri" panose="020F0502020204030204"/>
                  </a:rPr>
                  <a:t>Exp. 2:</a:t>
                </a:r>
                <a:r>
                  <a:rPr sz="1600" b="0" i="0">
                    <a:solidFill>
                      <a:srgbClr val="262626"/>
                    </a:solidFill>
                    <a:latin typeface="Calibri" panose="020F0502020204030204"/>
                  </a:rPr>
                  <a:t> fix B = 50, try the four legal (N, M) cells—{(5,9), (10,4), (25,1), (50,0)}. Where is the best cell?</a:t>
                </a:r>
                <a:endParaRPr sz="1600" b="0" i="0">
                  <a:solidFill>
                    <a:srgbClr val="262626"/>
                  </a:solidFill>
                  <a:latin typeface="Calibri" panose="020F0502020204030204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1">
                    <a:solidFill>
                      <a:srgbClr val="5F5F5F"/>
                    </a:solidFill>
                    <a:latin typeface="Calibri" panose="020F0502020204030204"/>
                  </a:rPr>
                  <a:t>You run these four on the shared 6-problem subset; the map shown is the cached 100-problem grid (qwen3-4b).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rgbClr val="5F5F5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sz="1400" i="1">
                        <a:solidFill>
                          <a:srgbClr val="5F5F5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×(</m:t>
                    </m:r>
                    <m:r>
                      <a:rPr lang="en-US" sz="1400" i="1">
                        <a:solidFill>
                          <a:srgbClr val="5F5F5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sz="1400" i="1">
                        <a:solidFill>
                          <a:srgbClr val="5F5F5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sz="1400" i="1">
                        <a:solidFill>
                          <a:srgbClr val="5F5F5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sz="1400" i="1">
                        <a:solidFill>
                          <a:srgbClr val="5F5F5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sz="1400" i="1">
                        <a:solidFill>
                          <a:srgbClr val="5F5F5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50</m:t>
                    </m:r>
                  </m:oMath>
                </a14:m>
                <a:r>
                  <a:rPr sz="1400" b="0" i="1">
                    <a:solidFill>
                      <a:srgbClr val="5F5F5F"/>
                    </a:solidFill>
                    <a:latin typeface="Calibri" panose="020F0502020204030204"/>
                  </a:rPr>
                  <a:t> keeps the legal cells on the diagonal.</a:t>
                </a:r>
                <a:endParaRPr sz="1400" b="0" i="1">
                  <a:solidFill>
                    <a:srgbClr val="5F5F5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05" y="1377950"/>
                <a:ext cx="4973320" cy="1176655"/>
              </a:xfrm>
              <a:prstGeom prst="rect">
                <a:avLst/>
              </a:prstGeom>
              <a:blipFill rotWithShape="1">
                <a:blip r:embed="rId2"/>
                <a:stretch>
                  <a:fillRect t="-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le 7"/>
          <p:cNvSpPr/>
          <p:nvPr/>
        </p:nvSpPr>
        <p:spPr>
          <a:xfrm>
            <a:off x="6304915" y="1309370"/>
            <a:ext cx="5216525" cy="3079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8"/>
          <p:cNvSpPr txBox="1"/>
          <p:nvPr/>
        </p:nvSpPr>
        <p:spPr>
          <a:xfrm>
            <a:off x="6525895" y="1475105"/>
            <a:ext cx="4721225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Exp. 3: predict on GSM8K, then check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8" name="TextBox 9"/>
          <p:cNvSpPr txBox="1"/>
          <p:nvPr/>
        </p:nvSpPr>
        <p:spPr>
          <a:xfrm>
            <a:off x="6525260" y="1918335"/>
            <a:ext cx="4721860" cy="2343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Based on the model, predict the optimal ratio on a new task (GSM8K). </a:t>
            </a:r>
            <a:endParaRPr sz="1600"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Estimate p from the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included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 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5~10 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problem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s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 probe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. </a:t>
            </a:r>
            <a:r>
              <a:rPr lang="en-US" altLang="zh-CN" sz="1600" b="0" i="0">
                <a:solidFill>
                  <a:srgbClr val="262626"/>
                </a:solidFill>
                <a:latin typeface="Calibri" panose="020F0502020204030204"/>
              </a:rPr>
              <a:t>But p in GSM8K can differ from MATH (it shifts by model: lower for Gemma-3-4B, higher for Qwen3-4B), so measure it, don't assume it.</a:t>
            </a:r>
            <a:endParaRPr lang="en-US" altLang="zh-CN" sz="1600" b="0" i="0">
              <a:solidFill>
                <a:srgbClr val="262626"/>
              </a:solidFill>
              <a:latin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Wrong prediction? 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Find which assumption broke (independence? verifier quality? budget scaling?)</a:t>
            </a:r>
            <a:r>
              <a:rPr lang="en-US" sz="1600" b="0" i="0">
                <a:solidFill>
                  <a:srgbClr val="262626"/>
                </a:solidFill>
                <a:latin typeface="Calibri" panose="020F0502020204030204"/>
              </a:rPr>
              <a:t>, and </a:t>
            </a:r>
            <a:r>
              <a:rPr sz="1600" b="0" i="0">
                <a:solidFill>
                  <a:srgbClr val="262626"/>
                </a:solidFill>
                <a:latin typeface="Calibri" panose="020F0502020204030204"/>
              </a:rPr>
              <a:t>that is the lesson.</a:t>
            </a:r>
            <a:endParaRPr sz="1600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39" name="Rounded Rectangle 10"/>
          <p:cNvSpPr/>
          <p:nvPr/>
        </p:nvSpPr>
        <p:spPr>
          <a:xfrm>
            <a:off x="6304915" y="4572000"/>
            <a:ext cx="5216525" cy="8686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11"/>
          <p:cNvSpPr txBox="1"/>
          <p:nvPr/>
        </p:nvSpPr>
        <p:spPr>
          <a:xfrm>
            <a:off x="6581140" y="4759960"/>
            <a:ext cx="46659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Rubric check: </a:t>
            </a:r>
            <a:r>
              <a:rPr sz="1600" b="0" i="1">
                <a:solidFill>
                  <a:srgbClr val="595959"/>
                </a:solidFill>
                <a:latin typeface="Calibri" panose="020F0502020204030204"/>
              </a:rPr>
              <a:t>“solve for N via the bound” and “propose a (N, M) split stating p, budget, verifier quality.”</a:t>
            </a:r>
            <a:endParaRPr sz="16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41" name="Rounded Rectangle 12"/>
          <p:cNvSpPr/>
          <p:nvPr/>
        </p:nvSpPr>
        <p:spPr>
          <a:xfrm>
            <a:off x="640080" y="595376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3"/>
          <p:cNvSpPr txBox="1"/>
          <p:nvPr/>
        </p:nvSpPr>
        <p:spPr>
          <a:xfrm>
            <a:off x="960120" y="6013450"/>
            <a:ext cx="103327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Calibri" panose="020F0502020204030204"/>
              </a:rPr>
              <a:t>Cross-validate with the materials: 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your heat map 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&amp;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 the cached grid; your GSM8K prediction 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&amp;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 the decision tree.</a:t>
            </a:r>
            <a:r>
              <a:rPr lang="en-US" b="0" i="0">
                <a:solidFill>
                  <a:srgbClr val="FFFFFF"/>
                </a:solidFill>
                <a:latin typeface="Calibri" panose="020F0502020204030204"/>
              </a:rPr>
              <a:t> </a:t>
            </a:r>
            <a:r>
              <a:rPr lang="en-US" altLang="zh-CN" b="0" i="0">
                <a:solidFill>
                  <a:srgbClr val="FFFFFF"/>
                </a:solidFill>
                <a:latin typeface="Calibri" panose="020F0502020204030204"/>
              </a:rPr>
              <a:t>Trust your raw experimental data.</a:t>
            </a:r>
            <a:endParaRPr lang="en-US" altLang="zh-CN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文本框 47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18 /20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HANDS-ON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26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Experiment 4: Audit the Baselines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27" name="Rounded Rectangle 5"/>
          <p:cNvSpPr/>
          <p:nvPr>
            <p:custDataLst>
              <p:tags r:id="rId1"/>
            </p:custDataLst>
          </p:nvPr>
        </p:nvSpPr>
        <p:spPr>
          <a:xfrm>
            <a:off x="640080" y="146304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6"/>
          <p:cNvSpPr txBox="1"/>
          <p:nvPr>
            <p:custDataLst>
              <p:tags r:id="rId2"/>
            </p:custDataLst>
          </p:nvPr>
        </p:nvSpPr>
        <p:spPr>
          <a:xfrm>
            <a:off x="960120" y="1647952"/>
            <a:ext cx="21945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1. budget coverage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29" name="TextBox 7"/>
          <p:cNvSpPr txBox="1"/>
          <p:nvPr>
            <p:custDataLst>
              <p:tags r:id="rId3"/>
            </p:custDataLst>
          </p:nvPr>
        </p:nvSpPr>
        <p:spPr>
          <a:xfrm>
            <a:off x="3631565" y="1550035"/>
            <a:ext cx="775271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>
                <a:solidFill>
                  <a:srgbClr val="262626"/>
                </a:solidFill>
                <a:latin typeface="Calibri" panose="020F0502020204030204" charset="0"/>
                <a:cs typeface="Calibri" panose="020F0502020204030204" charset="0"/>
              </a:rPr>
              <a:t>D</a:t>
            </a:r>
            <a:r>
              <a:rPr b="0" i="0">
                <a:solidFill>
                  <a:srgbClr val="262626"/>
                </a:solidFill>
                <a:latin typeface="Calibri" panose="020F0502020204030204" charset="0"/>
                <a:cs typeface="Calibri" panose="020F0502020204030204" charset="0"/>
              </a:rPr>
              <a:t>oes the paper sweep small </a:t>
            </a:r>
            <a:r>
              <a:rPr b="0" i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b="0" i="0">
                <a:solidFill>
                  <a:srgbClr val="262626"/>
                </a:solidFill>
                <a:latin typeface="Calibri" panose="020F0502020204030204" charset="0"/>
                <a:cs typeface="Calibri" panose="020F0502020204030204" charset="0"/>
              </a:rPr>
              <a:t> large budgets, or cherry-pick one?  (ICLR 2025 sweeps; check ours: B = 50 only)</a:t>
            </a:r>
            <a:endParaRPr b="0" i="0">
              <a:solidFill>
                <a:srgbClr val="262626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Rounded Rectangle 8"/>
          <p:cNvSpPr/>
          <p:nvPr>
            <p:custDataLst>
              <p:tags r:id="rId4"/>
            </p:custDataLst>
          </p:nvPr>
        </p:nvSpPr>
        <p:spPr>
          <a:xfrm>
            <a:off x="640080" y="2304288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9"/>
          <p:cNvSpPr txBox="1"/>
          <p:nvPr>
            <p:custDataLst>
              <p:tags r:id="rId5"/>
            </p:custDataLst>
          </p:nvPr>
        </p:nvSpPr>
        <p:spPr>
          <a:xfrm>
            <a:off x="960120" y="2507615"/>
            <a:ext cx="21945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2. faithful baselines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2" name="TextBox 10"/>
          <p:cNvSpPr txBox="1"/>
          <p:nvPr>
            <p:custDataLst>
              <p:tags r:id="rId6"/>
            </p:custDataLst>
          </p:nvPr>
        </p:nvSpPr>
        <p:spPr>
          <a:xfrm>
            <a:off x="3631565" y="2384425"/>
            <a:ext cx="775271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>
                <a:solidFill>
                  <a:srgbClr val="262626"/>
                </a:solidFill>
                <a:latin typeface="Calibri" panose="020F0502020204030204"/>
              </a:rPr>
              <a:t>I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s Majority voting / best-of-N weighted implemented as defined</a:t>
            </a:r>
            <a:r>
              <a:rPr lang="en-US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sampling counts, scoring, difficulty buckets?</a:t>
            </a:r>
            <a:endParaRPr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33" name="Rounded Rectangle 11"/>
          <p:cNvSpPr/>
          <p:nvPr>
            <p:custDataLst>
              <p:tags r:id="rId7"/>
            </p:custDataLst>
          </p:nvPr>
        </p:nvSpPr>
        <p:spPr>
          <a:xfrm>
            <a:off x="640080" y="3145536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12"/>
          <p:cNvSpPr txBox="1"/>
          <p:nvPr>
            <p:custDataLst>
              <p:tags r:id="rId8"/>
            </p:custDataLst>
          </p:nvPr>
        </p:nvSpPr>
        <p:spPr>
          <a:xfrm>
            <a:off x="960120" y="3348228"/>
            <a:ext cx="21945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3. verifier disclosure</a:t>
            </a:r>
            <a:endParaRPr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634740" y="3225165"/>
                <a:ext cx="7749540" cy="5537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b="0" i="0">
                    <a:solidFill>
                      <a:srgbClr val="262626"/>
                    </a:solidFill>
                    <a:latin typeface="Calibri" panose="020F0502020204030204"/>
                  </a:rPr>
                  <a:t>I</a:t>
                </a:r>
                <a:r>
                  <a:rPr b="0" i="0">
                    <a:solidFill>
                      <a:srgbClr val="262626"/>
                    </a:solidFill>
                    <a:latin typeface="Calibri" panose="020F0502020204030204"/>
                  </a:rPr>
                  <a:t>s the PRM training setup stated?  (ours: self-scoring 1</a:t>
                </a:r>
                <a:r>
                  <a:rPr lang="en-US" b="0" i="0">
                    <a:solidFill>
                      <a:srgbClr val="262626"/>
                    </a:solidFill>
                    <a:latin typeface="Calibri" panose="020F0502020204030204"/>
                  </a:rPr>
                  <a:t>-</a:t>
                </a:r>
                <a:r>
                  <a:rPr b="0" i="0">
                    <a:solidFill>
                      <a:srgbClr val="262626"/>
                    </a:solidFill>
                    <a:latin typeface="Calibri" panose="020F0502020204030204"/>
                  </a:rPr>
                  <a:t>10, threshold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7</m:t>
                    </m:r>
                  </m:oMath>
                </a14:m>
                <a:r>
                  <a:rPr b="0" i="0">
                    <a:solidFill>
                      <a:srgbClr val="262626"/>
                    </a:solidFill>
                    <a:latin typeface="Calibri" panose="020F0502020204030204"/>
                  </a:rPr>
                  <a:t>—disclosed)</a:t>
                </a:r>
                <a:endParaRPr b="0" i="0">
                  <a:solidFill>
                    <a:srgbClr val="262626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3634740" y="3225165"/>
                <a:ext cx="7749540" cy="553720"/>
              </a:xfrm>
              <a:prstGeom prst="rect">
                <a:avLst/>
              </a:prstGeom>
              <a:blipFill rotWithShape="1">
                <a:blip r:embed="rId11"/>
                <a:stretch>
                  <a:fillRect t="-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le 14"/>
          <p:cNvSpPr/>
          <p:nvPr>
            <p:custDataLst>
              <p:tags r:id="rId12"/>
            </p:custDataLst>
          </p:nvPr>
        </p:nvSpPr>
        <p:spPr>
          <a:xfrm>
            <a:off x="640080" y="3986784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15"/>
          <p:cNvSpPr txBox="1"/>
          <p:nvPr>
            <p:custDataLst>
              <p:tags r:id="rId13"/>
            </p:custDataLst>
          </p:nvPr>
        </p:nvSpPr>
        <p:spPr>
          <a:xfrm>
            <a:off x="960120" y="4189095"/>
            <a:ext cx="2536825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 panose="020F0502020204030204"/>
              </a:rPr>
              <a:t>4. </a:t>
            </a:r>
            <a:r>
              <a:rPr lang="en-US" altLang="zh-CN" sz="2000" b="1" i="0">
                <a:solidFill>
                  <a:srgbClr val="1F3864"/>
                </a:solidFill>
                <a:latin typeface="Calibri" panose="020F0502020204030204"/>
              </a:rPr>
              <a:t>one flaw to point out</a:t>
            </a:r>
            <a:endParaRPr lang="en-US" altLang="zh-CN" sz="2000" b="1" i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8" name="TextBox 16"/>
          <p:cNvSpPr txBox="1"/>
          <p:nvPr>
            <p:custDataLst>
              <p:tags r:id="rId14"/>
            </p:custDataLst>
          </p:nvPr>
        </p:nvSpPr>
        <p:spPr>
          <a:xfrm>
            <a:off x="3634105" y="4075430"/>
            <a:ext cx="775017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262626"/>
                </a:solidFill>
                <a:latin typeface="Calibri" panose="020F0502020204030204"/>
              </a:rPr>
              <a:t>At least one baseline defect must be identified, e.g. Self-Consistency naming or budget gaps.</a:t>
            </a:r>
            <a:endParaRPr lang="en-US" altLang="zh-CN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39" name="Rounded Rectangle 17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18"/>
          <p:cNvSpPr txBox="1"/>
          <p:nvPr/>
        </p:nvSpPr>
        <p:spPr>
          <a:xfrm>
            <a:off x="960120" y="4983480"/>
            <a:ext cx="1024128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1F3864"/>
                </a:solidFill>
                <a:latin typeface="Calibri" panose="020F0502020204030204"/>
              </a:rPr>
              <a:t>Apply the same lens to this course: </a:t>
            </a:r>
            <a:r>
              <a:rPr b="0" i="0">
                <a:solidFill>
                  <a:srgbClr val="262626"/>
                </a:solidFill>
                <a:latin typeface="Calibri" panose="020F0502020204030204"/>
              </a:rPr>
              <a:t>j</a:t>
            </a:r>
            <a:r>
              <a:rPr lang="en-US" altLang="zh-CN" b="0" i="0">
                <a:solidFill>
                  <a:srgbClr val="262626"/>
                </a:solidFill>
                <a:latin typeface="Calibri" panose="020F0502020204030204"/>
              </a:rPr>
              <a:t>udge parse-failure rate 5.2% 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sym typeface="+mn-ea"/>
              </a:rPr>
              <a:t>(</a:t>
            </a:r>
            <a:r>
              <a:rPr lang="en-US" altLang="zh-CN" b="0" i="0">
                <a:solidFill>
                  <a:srgbClr val="262626"/>
                </a:solidFill>
                <a:latin typeface="Calibri" panose="020F0502020204030204"/>
              </a:rPr>
              <a:t>final disclosed); headline accuracy stable across NaN-handling choices. Tie rules and CI conventions on p. 9–10.</a:t>
            </a:r>
            <a:endParaRPr lang="en-US" altLang="zh-CN" b="0" i="0">
              <a:solidFill>
                <a:srgbClr val="262626"/>
              </a:solidFill>
              <a:latin typeface="Calibri" panose="020F0502020204030204"/>
            </a:endParaRPr>
          </a:p>
        </p:txBody>
      </p:sp>
      <p:sp>
        <p:nvSpPr>
          <p:cNvPr id="41" name="Rounded Rectangle 19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20"/>
          <p:cNvSpPr txBox="1"/>
          <p:nvPr/>
        </p:nvSpPr>
        <p:spPr>
          <a:xfrm>
            <a:off x="960120" y="6019165"/>
            <a:ext cx="10332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Calibri" panose="020F0502020204030204"/>
              </a:rPr>
              <a:t>Full audit checklist and this course's own disclosures</a:t>
            </a:r>
            <a:r>
              <a:rPr i="0">
                <a:solidFill>
                  <a:srgbClr val="FFFFFF"/>
                </a:solidFill>
                <a:latin typeface="Calibri" panose="020F0502020204030204"/>
              </a:rPr>
              <a:t> are in </a:t>
            </a:r>
            <a:r>
              <a:rPr b="0" i="0">
                <a:solidFill>
                  <a:srgbClr val="FFFFFF"/>
                </a:solidFill>
                <a:latin typeface="Calibri" panose="020F0502020204030204"/>
              </a:rPr>
              <a:t>notebooks/04_baseline_review.ipynb.</a:t>
            </a:r>
            <a:endParaRPr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本框 45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19 /20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TextBox 3"/>
          <p:cNvSpPr txBox="1"/>
          <p:nvPr/>
        </p:nvSpPr>
        <p:spPr>
          <a:xfrm>
            <a:off x="896112" y="384048"/>
            <a:ext cx="10515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50D"/>
                </a:solidFill>
                <a:latin typeface="Calibri" panose="020F0502020204030204"/>
              </a:rPr>
              <a:t>WRAP-UP</a:t>
            </a:r>
            <a:endParaRPr sz="1600" b="1" i="0">
              <a:solidFill>
                <a:srgbClr val="B4550D"/>
              </a:solidFill>
              <a:latin typeface="Calibri" panose="020F0502020204030204"/>
            </a:endParaRPr>
          </a:p>
        </p:txBody>
      </p:sp>
      <p:sp>
        <p:nvSpPr>
          <p:cNvPr id="33" name="TextBox 4"/>
          <p:cNvSpPr txBox="1"/>
          <p:nvPr/>
        </p:nvSpPr>
        <p:spPr>
          <a:xfrm>
            <a:off x="89611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 panose="020B0502040204020203"/>
              </a:rPr>
              <a:t>Takeaways &amp; Your Rubric</a:t>
            </a:r>
            <a:endParaRPr sz="2800" b="1" i="0">
              <a:solidFill>
                <a:srgbClr val="1F3864"/>
              </a:solidFill>
              <a:latin typeface="Segoe UI" panose="020B0502040204020203"/>
            </a:endParaRPr>
          </a:p>
        </p:txBody>
      </p:sp>
      <p:sp>
        <p:nvSpPr>
          <p:cNvPr id="34" name="Rounded Rectangle 5"/>
          <p:cNvSpPr/>
          <p:nvPr/>
        </p:nvSpPr>
        <p:spPr>
          <a:xfrm>
            <a:off x="640080" y="115824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6"/>
          <p:cNvSpPr txBox="1"/>
          <p:nvPr/>
        </p:nvSpPr>
        <p:spPr>
          <a:xfrm>
            <a:off x="1005840" y="1268095"/>
            <a:ext cx="1014984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chemeClr val="accent6"/>
                </a:solidFill>
                <a:latin typeface="Calibri" panose="020F0502020204030204"/>
              </a:rPr>
              <a:t>•</a:t>
            </a:r>
            <a:r>
              <a:rPr sz="2000" b="1" i="0">
                <a:solidFill>
                  <a:srgbClr val="FFC069"/>
                </a:solidFill>
                <a:latin typeface="Calibri" panose="020F0502020204030204"/>
              </a:rPr>
              <a:t> </a:t>
            </a:r>
            <a:r>
              <a:rPr lang="en-US" altLang="zh-CN" sz="2000" b="1" i="0">
                <a:solidFill>
                  <a:srgbClr val="FFFFFF"/>
                </a:solidFill>
                <a:latin typeface="Calibri" panose="020F0502020204030204"/>
              </a:rPr>
              <a:t>Search wins by maximizing the candidate pool: </a:t>
            </a:r>
            <a:r>
              <a:rPr lang="en-US" altLang="zh-CN" sz="2000" i="0">
                <a:solidFill>
                  <a:srgbClr val="FFFFFF"/>
                </a:solidFill>
                <a:latin typeface="Calibri" panose="020F0502020204030204"/>
              </a:rPr>
              <a:t>the right answer must first be generated, and verification cannot find what was never generated.</a:t>
            </a:r>
            <a:endParaRPr lang="en-US" altLang="zh-CN" sz="200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Rounded Rectangle 7"/>
          <p:cNvSpPr/>
          <p:nvPr/>
        </p:nvSpPr>
        <p:spPr>
          <a:xfrm>
            <a:off x="640080" y="2092325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8"/>
          <p:cNvSpPr txBox="1"/>
          <p:nvPr/>
        </p:nvSpPr>
        <p:spPr>
          <a:xfrm>
            <a:off x="1005840" y="2202180"/>
            <a:ext cx="1014984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chemeClr val="accent6"/>
                </a:solidFill>
                <a:latin typeface="Calibri" panose="020F0502020204030204"/>
              </a:rPr>
              <a:t>•</a:t>
            </a:r>
            <a:r>
              <a:rPr sz="2000" b="1" i="0">
                <a:solidFill>
                  <a:srgbClr val="FFC069"/>
                </a:solidFill>
                <a:latin typeface="Calibri" panose="020F0502020204030204"/>
              </a:rPr>
              <a:t> </a:t>
            </a:r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Verifier quality sets the ceiling</a:t>
            </a:r>
            <a:r>
              <a:rPr lang="en-US" sz="2000" b="1" i="0">
                <a:solidFill>
                  <a:srgbClr val="FFFFFF"/>
                </a:solidFill>
                <a:latin typeface="Calibri" panose="020F0502020204030204"/>
              </a:rPr>
              <a:t>:</a:t>
            </a:r>
            <a:r>
              <a:rPr sz="2000" b="0" i="0">
                <a:solidFill>
                  <a:srgbClr val="FFFFFF"/>
                </a:solidFill>
                <a:latin typeface="Calibri" panose="020F0502020204030204"/>
              </a:rPr>
              <a:t> weak self-scoring cannot fix a bad pool; strong judges change the calculus (see the spectrum).</a:t>
            </a:r>
            <a:endParaRPr sz="20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8" name="Rounded Rectangle 9"/>
          <p:cNvSpPr/>
          <p:nvPr/>
        </p:nvSpPr>
        <p:spPr>
          <a:xfrm>
            <a:off x="640080" y="3026410"/>
            <a:ext cx="10862945" cy="8686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10"/>
              <p:cNvSpPr txBox="1"/>
              <p:nvPr/>
            </p:nvSpPr>
            <p:spPr>
              <a:xfrm>
                <a:off x="987425" y="3085465"/>
                <a:ext cx="10149840" cy="74485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chemeClr val="accent6"/>
                    </a:solidFill>
                    <a:latin typeface="Calibri" panose="020F0502020204030204"/>
                  </a:rPr>
                  <a:t>•</a:t>
                </a:r>
                <a:r>
                  <a:rPr sz="2000" b="1" i="0">
                    <a:solidFill>
                      <a:srgbClr val="FFC069"/>
                    </a:solidFill>
                    <a:latin typeface="Calibri" panose="020F0502020204030204"/>
                  </a:rPr>
                  <a:t> </a:t>
                </a:r>
                <a:r>
                  <a:rPr sz="2000" b="1" i="0">
                    <a:solidFill>
                      <a:srgbClr val="FFFFFF"/>
                    </a:solidFill>
                    <a:latin typeface="Calibri" panose="020F0502020204030204"/>
                  </a:rPr>
                  <a:t>Model first, measure second</a:t>
                </a:r>
                <a:r>
                  <a:rPr lang="en-US" sz="2000" b="1" i="0">
                    <a:solidFill>
                      <a:srgbClr val="FFFFFF"/>
                    </a:solidFill>
                    <a:latin typeface="Calibri" panose="020F0502020204030204"/>
                  </a:rPr>
                  <a:t>:</a:t>
                </a:r>
                <a:r>
                  <a:rPr sz="2000" b="0" i="0">
                    <a:solidFill>
                      <a:srgbClr val="FFFFFF"/>
                    </a:solidFill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sz="2000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 i="0">
                    <a:solidFill>
                      <a:srgbClr val="FFFFFF"/>
                    </a:solidFill>
                    <a:latin typeface="Calibri" panose="020F0502020204030204"/>
                  </a:rPr>
                  <a:t> gives a guarantee;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sz="2000" i="1">
                        <a:solidFill>
                          <a:srgbClr val="FFFFFF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 i="0">
                    <a:solidFill>
                      <a:srgbClr val="FFFFFF"/>
                    </a:solidFill>
                    <a:latin typeface="Calibri" panose="020F0502020204030204"/>
                  </a:rPr>
                  <a:t> needs a probe</a:t>
                </a:r>
                <a:r>
                  <a:rPr lang="en-US" sz="2000" b="0" i="0">
                    <a:solidFill>
                      <a:srgbClr val="FFFFFF"/>
                    </a:solidFill>
                    <a:latin typeface="Calibri" panose="020F0502020204030204"/>
                  </a:rPr>
                  <a:t>. T</a:t>
                </a:r>
                <a:r>
                  <a:rPr sz="2000" b="0" i="0">
                    <a:solidFill>
                      <a:srgbClr val="FFFFFF"/>
                    </a:solidFill>
                    <a:latin typeface="Calibri" panose="020F0502020204030204"/>
                  </a:rPr>
                  <a:t>he decision tree turns both into a plan.</a:t>
                </a:r>
                <a:endParaRPr sz="2000" b="0" i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9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25" y="3085465"/>
                <a:ext cx="10149840" cy="7448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11"/>
              <p:cNvGraphicFramePr>
                <a:graphicFrameLocks noGrp="1"/>
              </p:cNvGraphicFramePr>
              <p:nvPr>
                <p:custDataLst>
                  <p:tags r:id="rId2"/>
                </p:custDataLst>
              </p:nvPr>
            </p:nvGraphicFramePr>
            <p:xfrm>
              <a:off x="640080" y="3960495"/>
              <a:ext cx="7363460" cy="2788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1015"/>
                    <a:gridCol w="5592445"/>
                  </a:tblGrid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sz="14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Goal</a:t>
                          </a:r>
                          <a:endParaRPr sz="14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Rubric</a:t>
                          </a:r>
                          <a:endParaRPr sz="14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calculate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Given p and a target failure rate, solve for N via the Chernoff bound (must show the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𝐷</m:t>
                              </m:r>
                              <m:r>
                                <a:rPr lang="en-US" sz="1400" b="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sz="1400" b="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𝐾𝐿</m:t>
                              </m:r>
                            </m:oMath>
                          </a14:m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step).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2.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plot &amp; read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Plot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≥</m:t>
                              </m:r>
                              <m:r>
                                <a:rPr lang="en-US" sz="1400" i="1">
                                  <a:solidFill>
                                    <a:srgbClr val="26262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 points on your own budget–accuracy curve and interpret the six-model family (must mention p ordering).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propose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Propose a (N, M) split for a new task with a model-based reason (state p, budget, verifier quality).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4.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audit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Name at least one baseline flaw in the audited paper (e.g., SC replication or budget coverage).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decide (L2)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Walk the decision tree for a new task and state the p estimate that drives the choice.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11"/>
              <p:cNvGraphicFramePr>
                <a:graphicFrameLocks noGrp="1"/>
              </p:cNvGraphicFramePr>
              <p:nvPr>
                <p:custDataLst>
                  <p:tags r:id="rId3"/>
                </p:custDataLst>
              </p:nvPr>
            </p:nvGraphicFramePr>
            <p:xfrm>
              <a:off x="640080" y="3960495"/>
              <a:ext cx="7363460" cy="2788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1015"/>
                    <a:gridCol w="5592445"/>
                  </a:tblGrid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sz="14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Goal</a:t>
                          </a:r>
                          <a:endParaRPr sz="14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1" i="0">
                              <a:solidFill>
                                <a:srgbClr val="FFFFFF"/>
                              </a:solidFill>
                              <a:latin typeface="Calibri" panose="020F0502020204030204"/>
                            </a:rPr>
                            <a:t>Rubric</a:t>
                          </a:r>
                          <a:endParaRPr sz="1400" b="1" i="0">
                            <a:solidFill>
                              <a:srgbClr val="FFFFFF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rgbClr val="2E75B6"/>
                        </a:solidFill>
                      </a:tcPr>
                    </a:tc>
                  </a:tr>
                  <a:tr h="50038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1.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calculate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4"/>
                        </a:blipFill>
                      </a:tcPr>
                    </a:tc>
                  </a:tr>
                  <a:tr h="50038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2.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plot &amp; read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9728" marR="109728" marT="36576" marB="36576" anchor="ctr">
                        <a:blipFill>
                          <a:blip r:embed="rId4"/>
                        </a:blip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3.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propose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Propose a (N, M) split for a new task with a model-based reason (state p, budget, verifier quality).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4.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audit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Name at least one baseline flaw in the audited paper (e.g., SC replication or budget coverage).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274320">
                    <a:tc>
                      <a:txBody>
                        <a:bodyPr wrap="square"/>
                        <a:lstStyle/>
                        <a:p>
                          <a:r>
                            <a:rPr lang="en-US"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5. </a:t>
                          </a:r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decide (L2)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r>
                            <a:rPr sz="1400" b="0" i="0">
                              <a:solidFill>
                                <a:srgbClr val="262626"/>
                              </a:solidFill>
                              <a:latin typeface="Calibri" panose="020F0502020204030204"/>
                            </a:rPr>
                            <a:t>Walk the decision tree for a new task and state the p estimate that drives the choice.</a:t>
                          </a:r>
                          <a:endParaRPr sz="1400" b="0" i="0">
                            <a:solidFill>
                              <a:srgbClr val="262626"/>
                            </a:solidFill>
                            <a:latin typeface="Calibri" panose="020F0502020204030204"/>
                          </a:endParaRPr>
                        </a:p>
                      </a:txBody>
                      <a:tcPr marL="109728" marR="109728" marT="36576" marB="36576"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" name="Rounded Rectangle 12"/>
          <p:cNvSpPr/>
          <p:nvPr/>
        </p:nvSpPr>
        <p:spPr>
          <a:xfrm>
            <a:off x="8128000" y="4098290"/>
            <a:ext cx="3393440" cy="2349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3"/>
          <p:cNvSpPr txBox="1"/>
          <p:nvPr/>
        </p:nvSpPr>
        <p:spPr>
          <a:xfrm>
            <a:off x="8211185" y="4328160"/>
            <a:ext cx="3200400" cy="1889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b="1" i="0">
                <a:solidFill>
                  <a:srgbClr val="1F3864"/>
                </a:solidFill>
                <a:latin typeface="Calibri" panose="020F0502020204030204"/>
              </a:rPr>
              <a:t>Further reading</a:t>
            </a:r>
            <a:endParaRPr lang="en-US" altLang="zh-CN" sz="1400" b="1" i="0">
              <a:solidFill>
                <a:srgbClr val="1F3864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ICLR 2025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Scaling LLM Test-Time Compute Optimally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COLM 2025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When To Solve, When To Verify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ICML 2025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Sample, Scrutinize and Scale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NeurIPS 2025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Let Me Think!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NeurIPS 2025</a:t>
            </a:r>
            <a:r>
              <a:rPr lang="en-US" sz="1400" b="0" i="0">
                <a:solidFill>
                  <a:srgbClr val="262626"/>
                </a:solidFill>
                <a:latin typeface="Calibri" panose="020F0502020204030204"/>
              </a:rPr>
              <a:t>: </a:t>
            </a:r>
            <a:r>
              <a:rPr sz="1400" b="0" i="0">
                <a:solidFill>
                  <a:srgbClr val="262626"/>
                </a:solidFill>
                <a:latin typeface="Calibri" panose="020F0502020204030204"/>
              </a:rPr>
              <a:t>Provable Scaling Laws</a:t>
            </a:r>
            <a:endParaRPr sz="1400" b="0" i="0">
              <a:solidFill>
                <a:srgbClr val="2626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95959"/>
                </a:solidFill>
                <a:latin typeface="Calibri" panose="020F0502020204030204"/>
              </a:rPr>
              <a:t>Links: course GitHub README</a:t>
            </a:r>
            <a:endParaRPr sz="14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640080" y="383540"/>
            <a:ext cx="76200" cy="703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文本框 50"/>
          <p:cNvSpPr txBox="1"/>
          <p:nvPr/>
        </p:nvSpPr>
        <p:spPr>
          <a:xfrm>
            <a:off x="11323320" y="6489700"/>
            <a:ext cx="86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 /20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3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4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5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6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7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8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9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0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1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2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3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4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5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6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7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8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19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0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1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2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3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4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5.xml><?xml version="1.0" encoding="utf-8"?>
<p:tagLst xmlns:p="http://schemas.openxmlformats.org/presentationml/2006/main">
  <p:tag name="KSO_WM_DIAGRAM_VIRTUALLY_FRAME" val="{&quot;height&quot;:212.7,&quot;left&quot;:50.4,&quot;top&quot;:122.4,&quot;width&quot;:856.8}"/>
</p:tagLst>
</file>

<file path=ppt/tags/tag26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27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28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29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30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31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32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33.xml><?xml version="1.0" encoding="utf-8"?>
<p:tagLst xmlns:p="http://schemas.openxmlformats.org/presentationml/2006/main">
  <p:tag name="KSO_WM_DIAGRAM_VIRTUALLY_FRAME" val="{&quot;height&quot;:108,&quot;left&quot;:50.4,&quot;top&quot;:277.2,&quot;width&quot;:856.8}"/>
</p:tagLst>
</file>

<file path=ppt/tags/tag34.xml><?xml version="1.0" encoding="utf-8"?>
<p:tagLst xmlns:p="http://schemas.openxmlformats.org/presentationml/2006/main">
  <p:tag name="KSO_WM_DIAGRAM_VIRTUALLY_FRAME" val="{&quot;height&quot;:146.5,&quot;left&quot;:50.4,&quot;top&quot;:262.8,&quot;width&quot;:856.8}"/>
</p:tagLst>
</file>

<file path=ppt/tags/tag35.xml><?xml version="1.0" encoding="utf-8"?>
<p:tagLst xmlns:p="http://schemas.openxmlformats.org/presentationml/2006/main">
  <p:tag name="KSO_WM_DIAGRAM_VIRTUALLY_FRAME" val="{&quot;height&quot;:146.5,&quot;left&quot;:50.4,&quot;top&quot;:262.8,&quot;width&quot;:856.8}"/>
</p:tagLst>
</file>

<file path=ppt/tags/tag36.xml><?xml version="1.0" encoding="utf-8"?>
<p:tagLst xmlns:p="http://schemas.openxmlformats.org/presentationml/2006/main">
  <p:tag name="KSO_WM_DIAGRAM_VIRTUALLY_FRAME" val="{&quot;height&quot;:146.5,&quot;left&quot;:50.4,&quot;top&quot;:262.8,&quot;width&quot;:856.8}"/>
</p:tagLst>
</file>

<file path=ppt/tags/tag37.xml><?xml version="1.0" encoding="utf-8"?>
<p:tagLst xmlns:p="http://schemas.openxmlformats.org/presentationml/2006/main">
  <p:tag name="KSO_WM_DIAGRAM_VIRTUALLY_FRAME" val="{&quot;height&quot;:146.5,&quot;left&quot;:50.4,&quot;top&quot;:262.8,&quot;width&quot;:856.8}"/>
</p:tagLst>
</file>

<file path=ppt/tags/tag38.xml><?xml version="1.0" encoding="utf-8"?>
<p:tagLst xmlns:p="http://schemas.openxmlformats.org/presentationml/2006/main">
  <p:tag name="KSO_WM_DIAGRAM_VIRTUALLY_FRAME" val="{&quot;height&quot;:146.5,&quot;left&quot;:50.4,&quot;top&quot;:262.8,&quot;width&quot;:856.8}"/>
</p:tagLst>
</file>

<file path=ppt/tags/tag39.xml><?xml version="1.0" encoding="utf-8"?>
<p:tagLst xmlns:p="http://schemas.openxmlformats.org/presentationml/2006/main">
  <p:tag name="KSO_WM_DIAGRAM_VIRTUALLY_FRAME" val="{&quot;height&quot;:146.5,&quot;left&quot;:50.4,&quot;top&quot;:262.8,&quot;width&quot;:856.8}"/>
</p:tagLst>
</file>

<file path=ppt/tags/tag40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1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2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3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4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5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6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7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8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49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50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51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52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53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54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55.xml><?xml version="1.0" encoding="utf-8"?>
<p:tagLst xmlns:p="http://schemas.openxmlformats.org/presentationml/2006/main">
  <p:tag name="KSO_WM_DIAGRAM_VIRTUALLY_FRAME" val="{&quot;height&quot;:219.26999999999998,&quot;left&quot;:50.4,&quot;top&quot;:226.8,&quot;width&quot;:835.2}"/>
</p:tagLst>
</file>

<file path=ppt/tags/tag56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57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58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59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0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1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2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3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4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5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6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7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8.xml><?xml version="1.0" encoding="utf-8"?>
<p:tagLst xmlns:p="http://schemas.openxmlformats.org/presentationml/2006/main">
  <p:tag name="KSO_WM_DIAGRAM_VIRTUALLY_FRAME" val="{&quot;height&quot;:263.1,&quot;left&quot;:50.4,&quot;top&quot;:115.2,&quot;width&quot;:856.8}"/>
</p:tagLst>
</file>

<file path=ppt/tags/tag69.xml><?xml version="1.0" encoding="utf-8"?>
<p:tagLst xmlns:p="http://schemas.openxmlformats.org/presentationml/2006/main">
  <p:tag name="TABLE_ENDDRAG_ORIGIN_RECT" val="579*219"/>
  <p:tag name="TABLE_ENDDRAG_RECT" val="50*338*579*219"/>
</p:tagLst>
</file>

<file path=ppt/tags/tag70.xml><?xml version="1.0" encoding="utf-8"?>
<p:tagLst xmlns:p="http://schemas.openxmlformats.org/presentationml/2006/main">
  <p:tag name="TABLE_ENDDRAG_ORIGIN_RECT" val="579*219"/>
  <p:tag name="TABLE_ENDDRAG_RECT" val="50*338*579*21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16847</Words>
  <Application>WPS 演示</Application>
  <PresentationFormat>On-screen Show (4:3)</PresentationFormat>
  <Paragraphs>600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Arial</vt:lpstr>
      <vt:lpstr>Calibri</vt:lpstr>
      <vt:lpstr>Segoe UI</vt:lpstr>
      <vt:lpstr>Cambria Math</vt:lpstr>
      <vt:lpstr>Cambria Math</vt:lpstr>
      <vt:lpstr>Calibri</vt:lpstr>
      <vt:lpstr>MS Mincho</vt:lpstr>
      <vt:lpstr>Segoe Print</vt:lpstr>
      <vt:lpstr>微软雅黑</vt:lpstr>
      <vt:lpstr>Arial Unicode MS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谢添响</cp:lastModifiedBy>
  <cp:revision>196</cp:revision>
  <dcterms:created xsi:type="dcterms:W3CDTF">2013-01-27T09:14:00Z</dcterms:created>
  <dcterms:modified xsi:type="dcterms:W3CDTF">2026-09-04T05:55:19Z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20B1D0E9AB85495894D03108A2030687_13</vt:lpwstr>
  </property>
  <property fmtid="{D5CDD505-2E9C-101B-9397-08002B2CF9AE}" pid="3" name="KSOProductBuildVer">
    <vt:lpwstr>2052-12.1.0.28043</vt:lpwstr>
  </property>
</Properties>
</file>